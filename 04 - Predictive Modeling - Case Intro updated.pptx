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Override1.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96" r:id="rId6"/>
    <p:sldMasterId id="2147483672" r:id="rId7"/>
    <p:sldMasterId id="2147483684" r:id="rId8"/>
    <p:sldMasterId id="2147483708" r:id="rId9"/>
    <p:sldMasterId id="2147483720" r:id="rId10"/>
  </p:sldMasterIdLst>
  <p:notesMasterIdLst>
    <p:notesMasterId r:id="rId28"/>
  </p:notesMasterIdLst>
  <p:sldIdLst>
    <p:sldId id="258" r:id="rId11"/>
    <p:sldId id="468" r:id="rId12"/>
    <p:sldId id="472" r:id="rId13"/>
    <p:sldId id="287" r:id="rId14"/>
    <p:sldId id="286" r:id="rId15"/>
    <p:sldId id="285" r:id="rId16"/>
    <p:sldId id="284" r:id="rId17"/>
    <p:sldId id="283" r:id="rId18"/>
    <p:sldId id="488" r:id="rId19"/>
    <p:sldId id="481" r:id="rId20"/>
    <p:sldId id="479" r:id="rId21"/>
    <p:sldId id="480" r:id="rId22"/>
    <p:sldId id="482" r:id="rId23"/>
    <p:sldId id="487" r:id="rId24"/>
    <p:sldId id="485" r:id="rId25"/>
    <p:sldId id="483" r:id="rId26"/>
    <p:sldId id="48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C3FC28-3A8B-8FBF-F5EE-FFD7BDBD54C8}" name="Tamar Gertner" initials="TG" userId="S::tgertner@casact.org::d8c7c56f-b6a0-42b5-bd2c-6c578ebce14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C59"/>
    <a:srgbClr val="E0861A"/>
    <a:srgbClr val="FCB315"/>
    <a:srgbClr val="005093"/>
    <a:srgbClr val="0072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3BA267-C401-40C5-BB5D-8165F9173B6D}" v="2" dt="2022-02-15T18:28:51.059"/>
    <p1510:client id="{35F153F6-084B-45D9-98F3-2727C329C484}" v="184" dt="2022-02-15T16:58:22.729"/>
    <p1510:client id="{4C0C1705-A05D-3366-7E36-D550058AE323}" v="125" dt="2022-02-17T15:10:52.805"/>
    <p1510:client id="{6C4277FB-98D6-1416-28F2-330C3FEEA07F}" v="3" dt="2022-02-17T15:11:37.882"/>
    <p1510:client id="{C295F676-6259-D1EB-3CC2-C5A1A58A9D90}" v="14" dt="2022-02-15T22:05:46.651"/>
    <p1510:client id="{C42C0D0C-9600-1E7F-25E0-615650155FBE}" v="1" dt="2022-02-15T22:12:06.068"/>
    <p1510:client id="{CB636D78-CD1C-EBA8-6BA6-2B8C8F719595}" v="10" dt="2022-02-16T19:05:01.848"/>
    <p1510:client id="{DCAA5C69-707A-1A09-B2F5-6CCB4698E182}" v="3" dt="2022-02-23T21:25:12.7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 Type="http://schemas.openxmlformats.org/officeDocument/2006/relationships/customXml" Target="../customXml/item3.xml"/><Relationship Id="rId21" Type="http://schemas.openxmlformats.org/officeDocument/2006/relationships/slide" Target="slides/slide11.xml"/><Relationship Id="rId34" Type="http://schemas.microsoft.com/office/2018/10/relationships/authors" Target="authors.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notesMaster" Target="notesMasters/notesMaster1.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viewProps" Target="viewProps.xml"/><Relationship Id="rId8" Type="http://schemas.openxmlformats.org/officeDocument/2006/relationships/slideMaster" Target="slideMasters/slideMaster5.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53C68F-80AF-42F2-B966-BBE2FB2606B9}" type="doc">
      <dgm:prSet loTypeId="urn:microsoft.com/office/officeart/2005/8/layout/vList2" loCatId="list" qsTypeId="urn:microsoft.com/office/officeart/2005/8/quickstyle/simple1" qsCatId="simple" csTypeId="urn:microsoft.com/office/officeart/2005/8/colors/accent5_2" csCatId="accent5" phldr="1"/>
      <dgm:spPr/>
      <dgm:t>
        <a:bodyPr/>
        <a:lstStyle/>
        <a:p>
          <a:endParaRPr lang="en-US"/>
        </a:p>
      </dgm:t>
    </dgm:pt>
    <dgm:pt modelId="{B812A262-EF23-40FC-B498-21683E942857}">
      <dgm:prSet/>
      <dgm:spPr>
        <a:solidFill>
          <a:srgbClr val="001C59"/>
        </a:solidFill>
      </dgm:spPr>
      <dgm:t>
        <a:bodyPr/>
        <a:lstStyle/>
        <a:p>
          <a:r>
            <a:rPr lang="en-US">
              <a:latin typeface="Arial" panose="020B0604020202020204" pitchFamily="34" charset="0"/>
              <a:cs typeface="Arial" panose="020B0604020202020204" pitchFamily="34" charset="0"/>
            </a:rPr>
            <a:t>World’s </a:t>
          </a:r>
          <a:r>
            <a:rPr lang="en-US" i="1">
              <a:latin typeface="Arial" panose="020B0604020202020204" pitchFamily="34" charset="0"/>
              <a:cs typeface="Arial" panose="020B0604020202020204" pitchFamily="34" charset="0"/>
            </a:rPr>
            <a:t>only</a:t>
          </a:r>
          <a:r>
            <a:rPr lang="en-US">
              <a:latin typeface="Arial" panose="020B0604020202020204" pitchFamily="34" charset="0"/>
              <a:cs typeface="Arial" panose="020B0604020202020204" pitchFamily="34" charset="0"/>
            </a:rPr>
            <a:t> actuarial organization focused exclusively on P&amp;C risks</a:t>
          </a:r>
        </a:p>
      </dgm:t>
    </dgm:pt>
    <dgm:pt modelId="{BD32CF29-4E6D-427F-96A7-1649FB40704F}" type="parTrans" cxnId="{EB0FC219-D9D8-4647-80E8-185EDDC45A30}">
      <dgm:prSet/>
      <dgm:spPr/>
      <dgm:t>
        <a:bodyPr/>
        <a:lstStyle/>
        <a:p>
          <a:endParaRPr lang="en-US"/>
        </a:p>
      </dgm:t>
    </dgm:pt>
    <dgm:pt modelId="{C909B399-1B1B-4E0D-AF46-F0EB6C12EAB5}" type="sibTrans" cxnId="{EB0FC219-D9D8-4647-80E8-185EDDC45A30}">
      <dgm:prSet/>
      <dgm:spPr/>
      <dgm:t>
        <a:bodyPr/>
        <a:lstStyle/>
        <a:p>
          <a:endParaRPr lang="en-US"/>
        </a:p>
      </dgm:t>
    </dgm:pt>
    <dgm:pt modelId="{4188A360-5A00-4483-ACB2-D84C6B778FB3}">
      <dgm:prSet/>
      <dgm:spPr>
        <a:solidFill>
          <a:srgbClr val="001C59"/>
        </a:solidFill>
      </dgm:spPr>
      <dgm:t>
        <a:bodyPr/>
        <a:lstStyle/>
        <a:p>
          <a:r>
            <a:rPr lang="en-US">
              <a:latin typeface="Arial" panose="020B0604020202020204" pitchFamily="34" charset="0"/>
              <a:cs typeface="Arial" panose="020B0604020202020204" pitchFamily="34" charset="0"/>
            </a:rPr>
            <a:t>100+ year track record in training property/casualty actuaries</a:t>
          </a:r>
        </a:p>
      </dgm:t>
    </dgm:pt>
    <dgm:pt modelId="{F0AA7426-EC72-4BDA-ABAF-974D6D951F87}" type="parTrans" cxnId="{C9B72DD8-76E2-459D-B2E3-D28CD0E143C7}">
      <dgm:prSet/>
      <dgm:spPr/>
      <dgm:t>
        <a:bodyPr/>
        <a:lstStyle/>
        <a:p>
          <a:endParaRPr lang="en-US"/>
        </a:p>
      </dgm:t>
    </dgm:pt>
    <dgm:pt modelId="{7872A29C-E6A1-42C0-92CD-C2ECD557BC76}" type="sibTrans" cxnId="{C9B72DD8-76E2-459D-B2E3-D28CD0E143C7}">
      <dgm:prSet/>
      <dgm:spPr/>
      <dgm:t>
        <a:bodyPr/>
        <a:lstStyle/>
        <a:p>
          <a:endParaRPr lang="en-US"/>
        </a:p>
      </dgm:t>
    </dgm:pt>
    <dgm:pt modelId="{E6CED9F6-E9F7-4463-8C42-186E0A35CA38}">
      <dgm:prSet/>
      <dgm:spPr>
        <a:solidFill>
          <a:srgbClr val="001C59"/>
        </a:solidFill>
      </dgm:spPr>
      <dgm:t>
        <a:bodyPr/>
        <a:lstStyle/>
        <a:p>
          <a:r>
            <a:rPr lang="en-US">
              <a:latin typeface="Arial" panose="020B0604020202020204" pitchFamily="34" charset="0"/>
              <a:cs typeface="Arial" panose="020B0604020202020204" pitchFamily="34" charset="0"/>
            </a:rPr>
            <a:t>9,000+ members worldwide, and growing</a:t>
          </a:r>
        </a:p>
      </dgm:t>
    </dgm:pt>
    <dgm:pt modelId="{94ACCE73-B406-4842-8B17-ACB81C02C940}" type="parTrans" cxnId="{E190EF7B-F806-4D0F-AC7C-D82470D51C4D}">
      <dgm:prSet/>
      <dgm:spPr/>
      <dgm:t>
        <a:bodyPr/>
        <a:lstStyle/>
        <a:p>
          <a:endParaRPr lang="en-US"/>
        </a:p>
      </dgm:t>
    </dgm:pt>
    <dgm:pt modelId="{7C9AF347-268C-4298-9CBD-1966776EE026}" type="sibTrans" cxnId="{E190EF7B-F806-4D0F-AC7C-D82470D51C4D}">
      <dgm:prSet/>
      <dgm:spPr/>
      <dgm:t>
        <a:bodyPr/>
        <a:lstStyle/>
        <a:p>
          <a:endParaRPr lang="en-US"/>
        </a:p>
      </dgm:t>
    </dgm:pt>
    <dgm:pt modelId="{8DDD2E39-758C-4991-8BAD-354F747359AF}">
      <dgm:prSet/>
      <dgm:spPr>
        <a:solidFill>
          <a:srgbClr val="001C59"/>
        </a:solidFill>
      </dgm:spPr>
      <dgm:t>
        <a:bodyPr/>
        <a:lstStyle/>
        <a:p>
          <a:r>
            <a:rPr lang="en-US">
              <a:latin typeface="Arial" panose="020B0604020202020204" pitchFamily="34" charset="0"/>
              <a:cs typeface="Arial" panose="020B0604020202020204" pitchFamily="34" charset="0"/>
            </a:rPr>
            <a:t>Vibrant, growing community with deep and extensive resources to help CAS members, candidates, and students advance their careers; strong employer support. </a:t>
          </a:r>
        </a:p>
      </dgm:t>
    </dgm:pt>
    <dgm:pt modelId="{5E0F467C-E84D-4982-A966-098BA81A3407}" type="parTrans" cxnId="{55B5CEAD-F06B-4764-8E56-B765596572E1}">
      <dgm:prSet/>
      <dgm:spPr/>
      <dgm:t>
        <a:bodyPr/>
        <a:lstStyle/>
        <a:p>
          <a:endParaRPr lang="en-US"/>
        </a:p>
      </dgm:t>
    </dgm:pt>
    <dgm:pt modelId="{A4292C5B-967C-49B9-8B9D-344AFC4D0D26}" type="sibTrans" cxnId="{55B5CEAD-F06B-4764-8E56-B765596572E1}">
      <dgm:prSet/>
      <dgm:spPr/>
      <dgm:t>
        <a:bodyPr/>
        <a:lstStyle/>
        <a:p>
          <a:endParaRPr lang="en-US"/>
        </a:p>
      </dgm:t>
    </dgm:pt>
    <dgm:pt modelId="{F5900AA8-6956-4B84-9630-3468CBAB5A14}" type="pres">
      <dgm:prSet presAssocID="{7853C68F-80AF-42F2-B966-BBE2FB2606B9}" presName="linear" presStyleCnt="0">
        <dgm:presLayoutVars>
          <dgm:animLvl val="lvl"/>
          <dgm:resizeHandles val="exact"/>
        </dgm:presLayoutVars>
      </dgm:prSet>
      <dgm:spPr/>
    </dgm:pt>
    <dgm:pt modelId="{D0711F6F-98AC-4BCF-8A58-1BA7737F965A}" type="pres">
      <dgm:prSet presAssocID="{B812A262-EF23-40FC-B498-21683E942857}" presName="parentText" presStyleLbl="node1" presStyleIdx="0" presStyleCnt="4">
        <dgm:presLayoutVars>
          <dgm:chMax val="0"/>
          <dgm:bulletEnabled val="1"/>
        </dgm:presLayoutVars>
      </dgm:prSet>
      <dgm:spPr/>
    </dgm:pt>
    <dgm:pt modelId="{99937CB1-BC21-4A65-8213-F4B2BA8DBFEF}" type="pres">
      <dgm:prSet presAssocID="{C909B399-1B1B-4E0D-AF46-F0EB6C12EAB5}" presName="spacer" presStyleCnt="0"/>
      <dgm:spPr/>
    </dgm:pt>
    <dgm:pt modelId="{2AB4B95D-33D2-46E0-A337-A87B5972B8C2}" type="pres">
      <dgm:prSet presAssocID="{4188A360-5A00-4483-ACB2-D84C6B778FB3}" presName="parentText" presStyleLbl="node1" presStyleIdx="1" presStyleCnt="4">
        <dgm:presLayoutVars>
          <dgm:chMax val="0"/>
          <dgm:bulletEnabled val="1"/>
        </dgm:presLayoutVars>
      </dgm:prSet>
      <dgm:spPr/>
    </dgm:pt>
    <dgm:pt modelId="{D34D35A5-0E2F-4B70-85B8-BAA29090C875}" type="pres">
      <dgm:prSet presAssocID="{7872A29C-E6A1-42C0-92CD-C2ECD557BC76}" presName="spacer" presStyleCnt="0"/>
      <dgm:spPr/>
    </dgm:pt>
    <dgm:pt modelId="{EA0D9009-5053-461D-B017-B8C100B443FD}" type="pres">
      <dgm:prSet presAssocID="{E6CED9F6-E9F7-4463-8C42-186E0A35CA38}" presName="parentText" presStyleLbl="node1" presStyleIdx="2" presStyleCnt="4">
        <dgm:presLayoutVars>
          <dgm:chMax val="0"/>
          <dgm:bulletEnabled val="1"/>
        </dgm:presLayoutVars>
      </dgm:prSet>
      <dgm:spPr/>
    </dgm:pt>
    <dgm:pt modelId="{C27BB99F-F60E-4BD6-AC2B-0218C0D4B724}" type="pres">
      <dgm:prSet presAssocID="{7C9AF347-268C-4298-9CBD-1966776EE026}" presName="spacer" presStyleCnt="0"/>
      <dgm:spPr/>
    </dgm:pt>
    <dgm:pt modelId="{0B888BE5-BADF-4B10-A8F1-26240083417A}" type="pres">
      <dgm:prSet presAssocID="{8DDD2E39-758C-4991-8BAD-354F747359AF}" presName="parentText" presStyleLbl="node1" presStyleIdx="3" presStyleCnt="4" custLinFactY="-1322" custLinFactNeighborX="167" custLinFactNeighborY="-100000">
        <dgm:presLayoutVars>
          <dgm:chMax val="0"/>
          <dgm:bulletEnabled val="1"/>
        </dgm:presLayoutVars>
      </dgm:prSet>
      <dgm:spPr/>
    </dgm:pt>
  </dgm:ptLst>
  <dgm:cxnLst>
    <dgm:cxn modelId="{EB0FC219-D9D8-4647-80E8-185EDDC45A30}" srcId="{7853C68F-80AF-42F2-B966-BBE2FB2606B9}" destId="{B812A262-EF23-40FC-B498-21683E942857}" srcOrd="0" destOrd="0" parTransId="{BD32CF29-4E6D-427F-96A7-1649FB40704F}" sibTransId="{C909B399-1B1B-4E0D-AF46-F0EB6C12EAB5}"/>
    <dgm:cxn modelId="{CBD9D777-8E0D-44FA-8390-C7D3081CFF1B}" type="presOf" srcId="{B812A262-EF23-40FC-B498-21683E942857}" destId="{D0711F6F-98AC-4BCF-8A58-1BA7737F965A}" srcOrd="0" destOrd="0" presId="urn:microsoft.com/office/officeart/2005/8/layout/vList2"/>
    <dgm:cxn modelId="{E190EF7B-F806-4D0F-AC7C-D82470D51C4D}" srcId="{7853C68F-80AF-42F2-B966-BBE2FB2606B9}" destId="{E6CED9F6-E9F7-4463-8C42-186E0A35CA38}" srcOrd="2" destOrd="0" parTransId="{94ACCE73-B406-4842-8B17-ACB81C02C940}" sibTransId="{7C9AF347-268C-4298-9CBD-1966776EE026}"/>
    <dgm:cxn modelId="{E5431297-DF74-4032-88C0-8021CA3AD904}" type="presOf" srcId="{E6CED9F6-E9F7-4463-8C42-186E0A35CA38}" destId="{EA0D9009-5053-461D-B017-B8C100B443FD}" srcOrd="0" destOrd="0" presId="urn:microsoft.com/office/officeart/2005/8/layout/vList2"/>
    <dgm:cxn modelId="{DA92A597-85D8-470C-8CAA-DD702AD457BA}" type="presOf" srcId="{4188A360-5A00-4483-ACB2-D84C6B778FB3}" destId="{2AB4B95D-33D2-46E0-A337-A87B5972B8C2}" srcOrd="0" destOrd="0" presId="urn:microsoft.com/office/officeart/2005/8/layout/vList2"/>
    <dgm:cxn modelId="{55B5CEAD-F06B-4764-8E56-B765596572E1}" srcId="{7853C68F-80AF-42F2-B966-BBE2FB2606B9}" destId="{8DDD2E39-758C-4991-8BAD-354F747359AF}" srcOrd="3" destOrd="0" parTransId="{5E0F467C-E84D-4982-A966-098BA81A3407}" sibTransId="{A4292C5B-967C-49B9-8B9D-344AFC4D0D26}"/>
    <dgm:cxn modelId="{BB8572B6-4361-44C8-9D5E-339818C2FBE8}" type="presOf" srcId="{8DDD2E39-758C-4991-8BAD-354F747359AF}" destId="{0B888BE5-BADF-4B10-A8F1-26240083417A}" srcOrd="0" destOrd="0" presId="urn:microsoft.com/office/officeart/2005/8/layout/vList2"/>
    <dgm:cxn modelId="{D9D2D1BE-4B88-4F3D-A446-A1FD70BB4B99}" type="presOf" srcId="{7853C68F-80AF-42F2-B966-BBE2FB2606B9}" destId="{F5900AA8-6956-4B84-9630-3468CBAB5A14}" srcOrd="0" destOrd="0" presId="urn:microsoft.com/office/officeart/2005/8/layout/vList2"/>
    <dgm:cxn modelId="{C9B72DD8-76E2-459D-B2E3-D28CD0E143C7}" srcId="{7853C68F-80AF-42F2-B966-BBE2FB2606B9}" destId="{4188A360-5A00-4483-ACB2-D84C6B778FB3}" srcOrd="1" destOrd="0" parTransId="{F0AA7426-EC72-4BDA-ABAF-974D6D951F87}" sibTransId="{7872A29C-E6A1-42C0-92CD-C2ECD557BC76}"/>
    <dgm:cxn modelId="{43A79CEE-6476-4751-BEDE-FD7F47756440}" type="presParOf" srcId="{F5900AA8-6956-4B84-9630-3468CBAB5A14}" destId="{D0711F6F-98AC-4BCF-8A58-1BA7737F965A}" srcOrd="0" destOrd="0" presId="urn:microsoft.com/office/officeart/2005/8/layout/vList2"/>
    <dgm:cxn modelId="{4BDE6421-7348-421B-93D4-16B67B7908D9}" type="presParOf" srcId="{F5900AA8-6956-4B84-9630-3468CBAB5A14}" destId="{99937CB1-BC21-4A65-8213-F4B2BA8DBFEF}" srcOrd="1" destOrd="0" presId="urn:microsoft.com/office/officeart/2005/8/layout/vList2"/>
    <dgm:cxn modelId="{16D6F5AB-04C2-4100-B941-4C2D40770EB6}" type="presParOf" srcId="{F5900AA8-6956-4B84-9630-3468CBAB5A14}" destId="{2AB4B95D-33D2-46E0-A337-A87B5972B8C2}" srcOrd="2" destOrd="0" presId="urn:microsoft.com/office/officeart/2005/8/layout/vList2"/>
    <dgm:cxn modelId="{1CA8596B-7512-4A57-AD70-83A3FD88BE46}" type="presParOf" srcId="{F5900AA8-6956-4B84-9630-3468CBAB5A14}" destId="{D34D35A5-0E2F-4B70-85B8-BAA29090C875}" srcOrd="3" destOrd="0" presId="urn:microsoft.com/office/officeart/2005/8/layout/vList2"/>
    <dgm:cxn modelId="{406673CC-5F9C-4886-8E76-69FE714C01F2}" type="presParOf" srcId="{F5900AA8-6956-4B84-9630-3468CBAB5A14}" destId="{EA0D9009-5053-461D-B017-B8C100B443FD}" srcOrd="4" destOrd="0" presId="urn:microsoft.com/office/officeart/2005/8/layout/vList2"/>
    <dgm:cxn modelId="{6494FC74-97A2-4827-983A-5823E36DB2BE}" type="presParOf" srcId="{F5900AA8-6956-4B84-9630-3468CBAB5A14}" destId="{C27BB99F-F60E-4BD6-AC2B-0218C0D4B724}" srcOrd="5" destOrd="0" presId="urn:microsoft.com/office/officeart/2005/8/layout/vList2"/>
    <dgm:cxn modelId="{F1716A4C-F549-437D-BE34-597BAEFAA3C6}" type="presParOf" srcId="{F5900AA8-6956-4B84-9630-3468CBAB5A14}" destId="{0B888BE5-BADF-4B10-A8F1-26240083417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711F6F-98AC-4BCF-8A58-1BA7737F965A}">
      <dsp:nvSpPr>
        <dsp:cNvPr id="0" name=""/>
        <dsp:cNvSpPr/>
      </dsp:nvSpPr>
      <dsp:spPr>
        <a:xfrm>
          <a:off x="0" y="290536"/>
          <a:ext cx="6228485" cy="955597"/>
        </a:xfrm>
        <a:prstGeom prst="roundRect">
          <a:avLst/>
        </a:prstGeom>
        <a:solidFill>
          <a:srgbClr val="001C5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World’s </a:t>
          </a:r>
          <a:r>
            <a:rPr lang="en-US" sz="1800" i="1" kern="1200">
              <a:latin typeface="Arial" panose="020B0604020202020204" pitchFamily="34" charset="0"/>
              <a:cs typeface="Arial" panose="020B0604020202020204" pitchFamily="34" charset="0"/>
            </a:rPr>
            <a:t>only</a:t>
          </a:r>
          <a:r>
            <a:rPr lang="en-US" sz="1800" kern="1200">
              <a:latin typeface="Arial" panose="020B0604020202020204" pitchFamily="34" charset="0"/>
              <a:cs typeface="Arial" panose="020B0604020202020204" pitchFamily="34" charset="0"/>
            </a:rPr>
            <a:t> actuarial organization focused exclusively on P&amp;C risks</a:t>
          </a:r>
        </a:p>
      </dsp:txBody>
      <dsp:txXfrm>
        <a:off x="46648" y="337184"/>
        <a:ext cx="6135189" cy="862301"/>
      </dsp:txXfrm>
    </dsp:sp>
    <dsp:sp modelId="{2AB4B95D-33D2-46E0-A337-A87B5972B8C2}">
      <dsp:nvSpPr>
        <dsp:cNvPr id="0" name=""/>
        <dsp:cNvSpPr/>
      </dsp:nvSpPr>
      <dsp:spPr>
        <a:xfrm>
          <a:off x="0" y="1297974"/>
          <a:ext cx="6228485" cy="955597"/>
        </a:xfrm>
        <a:prstGeom prst="roundRect">
          <a:avLst/>
        </a:prstGeom>
        <a:solidFill>
          <a:srgbClr val="001C5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100+ year track record in training property/casualty actuaries</a:t>
          </a:r>
        </a:p>
      </dsp:txBody>
      <dsp:txXfrm>
        <a:off x="46648" y="1344622"/>
        <a:ext cx="6135189" cy="862301"/>
      </dsp:txXfrm>
    </dsp:sp>
    <dsp:sp modelId="{EA0D9009-5053-461D-B017-B8C100B443FD}">
      <dsp:nvSpPr>
        <dsp:cNvPr id="0" name=""/>
        <dsp:cNvSpPr/>
      </dsp:nvSpPr>
      <dsp:spPr>
        <a:xfrm>
          <a:off x="0" y="2305411"/>
          <a:ext cx="6228485" cy="955597"/>
        </a:xfrm>
        <a:prstGeom prst="roundRect">
          <a:avLst/>
        </a:prstGeom>
        <a:solidFill>
          <a:srgbClr val="001C5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9,000+ members worldwide, and growing</a:t>
          </a:r>
        </a:p>
      </dsp:txBody>
      <dsp:txXfrm>
        <a:off x="46648" y="2352059"/>
        <a:ext cx="6135189" cy="862301"/>
      </dsp:txXfrm>
    </dsp:sp>
    <dsp:sp modelId="{0B888BE5-BADF-4B10-A8F1-26240083417A}">
      <dsp:nvSpPr>
        <dsp:cNvPr id="0" name=""/>
        <dsp:cNvSpPr/>
      </dsp:nvSpPr>
      <dsp:spPr>
        <a:xfrm>
          <a:off x="0" y="3248376"/>
          <a:ext cx="6228485" cy="955597"/>
        </a:xfrm>
        <a:prstGeom prst="roundRect">
          <a:avLst/>
        </a:prstGeom>
        <a:solidFill>
          <a:srgbClr val="001C5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Vibrant, growing community with deep and extensive resources to help CAS members, candidates, and students advance their careers; strong employer support. </a:t>
          </a:r>
        </a:p>
      </dsp:txBody>
      <dsp:txXfrm>
        <a:off x="46648" y="3295024"/>
        <a:ext cx="6135189" cy="86230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254AAA-DF0D-46BE-9275-C35A5762563B}" type="datetimeFigureOut">
              <a:rPr lang="en-US" smtClean="0"/>
              <a:t>1/15/2026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DB0CDF-EB34-4670-A3BD-7FCF613F5EF5}" type="slidenum">
              <a:rPr lang="en-US" smtClean="0"/>
              <a:t>‹#›</a:t>
            </a:fld>
            <a:endParaRPr lang="en-US"/>
          </a:p>
        </p:txBody>
      </p:sp>
    </p:spTree>
    <p:extLst>
      <p:ext uri="{BB962C8B-B14F-4D97-AF65-F5344CB8AC3E}">
        <p14:creationId xmlns:p14="http://schemas.microsoft.com/office/powerpoint/2010/main" val="3275428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122363"/>
            <a:ext cx="9144000" cy="2387600"/>
          </a:xfrm>
        </p:spPr>
        <p:txBody>
          <a:bodyPr anchor="ctr"/>
          <a:lstStyle>
            <a:lvl1pPr algn="l">
              <a:defRPr sz="6000" b="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682625"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264A6E4-CFA0-4B2D-8F32-633E0859C1D1}"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3E7623-BBEB-4428-BB2F-61EF81B76904}" type="slidenum">
              <a:rPr lang="en-US" smtClean="0"/>
              <a:t>‹#›</a:t>
            </a:fld>
            <a:endParaRPr lang="en-US"/>
          </a:p>
        </p:txBody>
      </p:sp>
      <p:sp>
        <p:nvSpPr>
          <p:cNvPr id="7" name="Pentagon 14"/>
          <p:cNvSpPr/>
          <p:nvPr userDrawn="1"/>
        </p:nvSpPr>
        <p:spPr>
          <a:xfrm rot="5400000">
            <a:off x="538544" y="2107819"/>
            <a:ext cx="2387600" cy="416688"/>
          </a:xfrm>
          <a:custGeom>
            <a:avLst/>
            <a:gdLst>
              <a:gd name="connsiteX0" fmla="*/ 0 w 1556270"/>
              <a:gd name="connsiteY0" fmla="*/ 0 h 416688"/>
              <a:gd name="connsiteX1" fmla="*/ 1347926 w 1556270"/>
              <a:gd name="connsiteY1" fmla="*/ 0 h 416688"/>
              <a:gd name="connsiteX2" fmla="*/ 1556270 w 1556270"/>
              <a:gd name="connsiteY2" fmla="*/ 208344 h 416688"/>
              <a:gd name="connsiteX3" fmla="*/ 1347926 w 1556270"/>
              <a:gd name="connsiteY3" fmla="*/ 416688 h 416688"/>
              <a:gd name="connsiteX4" fmla="*/ 0 w 1556270"/>
              <a:gd name="connsiteY4" fmla="*/ 416688 h 416688"/>
              <a:gd name="connsiteX5" fmla="*/ 0 w 1556270"/>
              <a:gd name="connsiteY5" fmla="*/ 0 h 416688"/>
              <a:gd name="connsiteX0" fmla="*/ 0 w 1347926"/>
              <a:gd name="connsiteY0" fmla="*/ 0 h 416688"/>
              <a:gd name="connsiteX1" fmla="*/ 1347926 w 1347926"/>
              <a:gd name="connsiteY1" fmla="*/ 0 h 416688"/>
              <a:gd name="connsiteX2" fmla="*/ 1251470 w 1347926"/>
              <a:gd name="connsiteY2" fmla="*/ 203582 h 416688"/>
              <a:gd name="connsiteX3" fmla="*/ 1347926 w 1347926"/>
              <a:gd name="connsiteY3" fmla="*/ 416688 h 416688"/>
              <a:gd name="connsiteX4" fmla="*/ 0 w 1347926"/>
              <a:gd name="connsiteY4" fmla="*/ 416688 h 416688"/>
              <a:gd name="connsiteX5" fmla="*/ 0 w 1347926"/>
              <a:gd name="connsiteY5" fmla="*/ 0 h 416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7926" h="416688">
                <a:moveTo>
                  <a:pt x="0" y="0"/>
                </a:moveTo>
                <a:lnTo>
                  <a:pt x="1347926" y="0"/>
                </a:lnTo>
                <a:lnTo>
                  <a:pt x="1251470" y="203582"/>
                </a:lnTo>
                <a:lnTo>
                  <a:pt x="1347926" y="416688"/>
                </a:lnTo>
                <a:lnTo>
                  <a:pt x="0" y="416688"/>
                </a:lnTo>
                <a:lnTo>
                  <a:pt x="0" y="0"/>
                </a:lnTo>
                <a:close/>
              </a:path>
            </a:pathLst>
          </a:custGeom>
          <a:gradFill flip="none" rotWithShape="0">
            <a:gsLst>
              <a:gs pos="0">
                <a:srgbClr val="0072BC"/>
              </a:gs>
              <a:gs pos="58000">
                <a:srgbClr val="005093"/>
              </a:gs>
              <a:gs pos="100000">
                <a:srgbClr val="001C59"/>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8950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64A6E4-CFA0-4B2D-8F32-633E0859C1D1}"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273E7623-BBEB-4428-BB2F-61EF81B76904}" type="slidenum">
              <a:rPr lang="en-US" smtClean="0"/>
              <a:t>‹#›</a:t>
            </a:fld>
            <a:endParaRPr lang="en-US"/>
          </a:p>
        </p:txBody>
      </p:sp>
      <p:sp>
        <p:nvSpPr>
          <p:cNvPr id="7" name="Pentagon 14"/>
          <p:cNvSpPr/>
          <p:nvPr userDrawn="1"/>
        </p:nvSpPr>
        <p:spPr>
          <a:xfrm rot="5400000">
            <a:off x="372581" y="830746"/>
            <a:ext cx="1347926" cy="416688"/>
          </a:xfrm>
          <a:custGeom>
            <a:avLst/>
            <a:gdLst>
              <a:gd name="connsiteX0" fmla="*/ 0 w 1556270"/>
              <a:gd name="connsiteY0" fmla="*/ 0 h 416688"/>
              <a:gd name="connsiteX1" fmla="*/ 1347926 w 1556270"/>
              <a:gd name="connsiteY1" fmla="*/ 0 h 416688"/>
              <a:gd name="connsiteX2" fmla="*/ 1556270 w 1556270"/>
              <a:gd name="connsiteY2" fmla="*/ 208344 h 416688"/>
              <a:gd name="connsiteX3" fmla="*/ 1347926 w 1556270"/>
              <a:gd name="connsiteY3" fmla="*/ 416688 h 416688"/>
              <a:gd name="connsiteX4" fmla="*/ 0 w 1556270"/>
              <a:gd name="connsiteY4" fmla="*/ 416688 h 416688"/>
              <a:gd name="connsiteX5" fmla="*/ 0 w 1556270"/>
              <a:gd name="connsiteY5" fmla="*/ 0 h 416688"/>
              <a:gd name="connsiteX0" fmla="*/ 0 w 1347926"/>
              <a:gd name="connsiteY0" fmla="*/ 0 h 416688"/>
              <a:gd name="connsiteX1" fmla="*/ 1347926 w 1347926"/>
              <a:gd name="connsiteY1" fmla="*/ 0 h 416688"/>
              <a:gd name="connsiteX2" fmla="*/ 1251470 w 1347926"/>
              <a:gd name="connsiteY2" fmla="*/ 203582 h 416688"/>
              <a:gd name="connsiteX3" fmla="*/ 1347926 w 1347926"/>
              <a:gd name="connsiteY3" fmla="*/ 416688 h 416688"/>
              <a:gd name="connsiteX4" fmla="*/ 0 w 1347926"/>
              <a:gd name="connsiteY4" fmla="*/ 416688 h 416688"/>
              <a:gd name="connsiteX5" fmla="*/ 0 w 1347926"/>
              <a:gd name="connsiteY5" fmla="*/ 0 h 416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7926" h="416688">
                <a:moveTo>
                  <a:pt x="0" y="0"/>
                </a:moveTo>
                <a:lnTo>
                  <a:pt x="1347926" y="0"/>
                </a:lnTo>
                <a:lnTo>
                  <a:pt x="1251470" y="203582"/>
                </a:lnTo>
                <a:lnTo>
                  <a:pt x="1347926" y="416688"/>
                </a:lnTo>
                <a:lnTo>
                  <a:pt x="0" y="416688"/>
                </a:lnTo>
                <a:lnTo>
                  <a:pt x="0" y="0"/>
                </a:lnTo>
                <a:close/>
              </a:path>
            </a:pathLst>
          </a:custGeom>
          <a:gradFill flip="none" rotWithShape="0">
            <a:gsLst>
              <a:gs pos="0">
                <a:srgbClr val="0072BC"/>
              </a:gs>
              <a:gs pos="58000">
                <a:srgbClr val="005093"/>
              </a:gs>
              <a:gs pos="100000">
                <a:srgbClr val="001C59"/>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0096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64A6E4-CFA0-4B2D-8F32-633E0859C1D1}"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273E7623-BBEB-4428-BB2F-61EF81B76904}" type="slidenum">
              <a:rPr lang="en-US" smtClean="0"/>
              <a:t>‹#›</a:t>
            </a:fld>
            <a:endParaRPr lang="en-US"/>
          </a:p>
        </p:txBody>
      </p:sp>
    </p:spTree>
    <p:extLst>
      <p:ext uri="{BB962C8B-B14F-4D97-AF65-F5344CB8AC3E}">
        <p14:creationId xmlns:p14="http://schemas.microsoft.com/office/powerpoint/2010/main" val="3507122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264A6E4-CFA0-4B2D-8F32-633E0859C1D1}" type="datetimeFigureOut">
              <a:rPr lang="en-US" smtClean="0"/>
              <a:t>1/15/2026</a:t>
            </a:fld>
            <a:endParaRPr lang="en-US"/>
          </a:p>
        </p:txBody>
      </p:sp>
      <p:sp>
        <p:nvSpPr>
          <p:cNvPr id="6" name="Footer Placeholder 5"/>
          <p:cNvSpPr>
            <a:spLocks noGrp="1"/>
          </p:cNvSpPr>
          <p:nvPr>
            <p:ph type="ftr" sz="quarter" idx="11"/>
          </p:nvPr>
        </p:nvSpPr>
        <p:spPr/>
        <p:txBody>
          <a:bodyPr/>
          <a:lstStyle/>
          <a:p>
            <a:r>
              <a:rPr lang="en-US"/>
              <a:t>© 2022 by the Casualty Actuarial Society. All rights reserved.</a:t>
            </a:r>
          </a:p>
          <a:p>
            <a:endParaRPr lang="en-US"/>
          </a:p>
        </p:txBody>
      </p:sp>
      <p:sp>
        <p:nvSpPr>
          <p:cNvPr id="7" name="Slide Number Placeholder 6"/>
          <p:cNvSpPr>
            <a:spLocks noGrp="1"/>
          </p:cNvSpPr>
          <p:nvPr>
            <p:ph type="sldNum" sz="quarter" idx="12"/>
          </p:nvPr>
        </p:nvSpPr>
        <p:spPr/>
        <p:txBody>
          <a:bodyPr/>
          <a:lstStyle/>
          <a:p>
            <a:fld id="{273E7623-BBEB-4428-BB2F-61EF81B76904}" type="slidenum">
              <a:rPr lang="en-US" smtClean="0"/>
              <a:t>‹#›</a:t>
            </a:fld>
            <a:endParaRPr lang="en-US"/>
          </a:p>
        </p:txBody>
      </p:sp>
    </p:spTree>
    <p:extLst>
      <p:ext uri="{BB962C8B-B14F-4D97-AF65-F5344CB8AC3E}">
        <p14:creationId xmlns:p14="http://schemas.microsoft.com/office/powerpoint/2010/main" val="946672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264A6E4-CFA0-4B2D-8F32-633E0859C1D1}" type="datetimeFigureOut">
              <a:rPr lang="en-US" smtClean="0"/>
              <a:t>1/15/2026</a:t>
            </a:fld>
            <a:endParaRPr lang="en-US"/>
          </a:p>
        </p:txBody>
      </p:sp>
      <p:sp>
        <p:nvSpPr>
          <p:cNvPr id="8" name="Footer Placeholder 7"/>
          <p:cNvSpPr>
            <a:spLocks noGrp="1"/>
          </p:cNvSpPr>
          <p:nvPr>
            <p:ph type="ftr" sz="quarter" idx="11"/>
          </p:nvPr>
        </p:nvSpPr>
        <p:spPr/>
        <p:txBody>
          <a:bodyPr/>
          <a:lstStyle/>
          <a:p>
            <a:r>
              <a:rPr lang="en-US"/>
              <a:t>© 2022 by the Casualty Actuarial Society. All rights reserved.</a:t>
            </a:r>
          </a:p>
          <a:p>
            <a:endParaRPr lang="en-US"/>
          </a:p>
        </p:txBody>
      </p:sp>
      <p:sp>
        <p:nvSpPr>
          <p:cNvPr id="9" name="Slide Number Placeholder 8"/>
          <p:cNvSpPr>
            <a:spLocks noGrp="1"/>
          </p:cNvSpPr>
          <p:nvPr>
            <p:ph type="sldNum" sz="quarter" idx="12"/>
          </p:nvPr>
        </p:nvSpPr>
        <p:spPr/>
        <p:txBody>
          <a:bodyPr/>
          <a:lstStyle/>
          <a:p>
            <a:fld id="{273E7623-BBEB-4428-BB2F-61EF81B76904}" type="slidenum">
              <a:rPr lang="en-US" smtClean="0"/>
              <a:t>‹#›</a:t>
            </a:fld>
            <a:endParaRPr lang="en-US"/>
          </a:p>
        </p:txBody>
      </p:sp>
    </p:spTree>
    <p:extLst>
      <p:ext uri="{BB962C8B-B14F-4D97-AF65-F5344CB8AC3E}">
        <p14:creationId xmlns:p14="http://schemas.microsoft.com/office/powerpoint/2010/main" val="1316363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264A6E4-CFA0-4B2D-8F32-633E0859C1D1}" type="datetimeFigureOut">
              <a:rPr lang="en-US" smtClean="0"/>
              <a:t>1/15/2026</a:t>
            </a:fld>
            <a:endParaRPr lang="en-US"/>
          </a:p>
        </p:txBody>
      </p:sp>
      <p:sp>
        <p:nvSpPr>
          <p:cNvPr id="4" name="Footer Placeholder 3"/>
          <p:cNvSpPr>
            <a:spLocks noGrp="1"/>
          </p:cNvSpPr>
          <p:nvPr>
            <p:ph type="ftr" sz="quarter" idx="11"/>
          </p:nvPr>
        </p:nvSpPr>
        <p:spPr/>
        <p:txBody>
          <a:bodyPr/>
          <a:lstStyle/>
          <a:p>
            <a:r>
              <a:rPr lang="en-US"/>
              <a:t>© 2022 by the Casualty Actuarial Society. All rights reserved.</a:t>
            </a:r>
          </a:p>
          <a:p>
            <a:endParaRPr lang="en-US"/>
          </a:p>
        </p:txBody>
      </p:sp>
      <p:sp>
        <p:nvSpPr>
          <p:cNvPr id="5" name="Slide Number Placeholder 4"/>
          <p:cNvSpPr>
            <a:spLocks noGrp="1"/>
          </p:cNvSpPr>
          <p:nvPr>
            <p:ph type="sldNum" sz="quarter" idx="12"/>
          </p:nvPr>
        </p:nvSpPr>
        <p:spPr/>
        <p:txBody>
          <a:bodyPr/>
          <a:lstStyle/>
          <a:p>
            <a:fld id="{273E7623-BBEB-4428-BB2F-61EF81B76904}" type="slidenum">
              <a:rPr lang="en-US" smtClean="0"/>
              <a:t>‹#›</a:t>
            </a:fld>
            <a:endParaRPr lang="en-US"/>
          </a:p>
        </p:txBody>
      </p:sp>
    </p:spTree>
    <p:extLst>
      <p:ext uri="{BB962C8B-B14F-4D97-AF65-F5344CB8AC3E}">
        <p14:creationId xmlns:p14="http://schemas.microsoft.com/office/powerpoint/2010/main" val="2147646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64A6E4-CFA0-4B2D-8F32-633E0859C1D1}" type="datetimeFigureOut">
              <a:rPr lang="en-US" smtClean="0"/>
              <a:t>1/15/2026</a:t>
            </a:fld>
            <a:endParaRPr lang="en-US"/>
          </a:p>
        </p:txBody>
      </p:sp>
      <p:sp>
        <p:nvSpPr>
          <p:cNvPr id="3" name="Footer Placeholder 2"/>
          <p:cNvSpPr>
            <a:spLocks noGrp="1"/>
          </p:cNvSpPr>
          <p:nvPr>
            <p:ph type="ftr" sz="quarter" idx="11"/>
          </p:nvPr>
        </p:nvSpPr>
        <p:spPr/>
        <p:txBody>
          <a:bodyPr/>
          <a:lstStyle/>
          <a:p>
            <a:r>
              <a:rPr lang="en-US"/>
              <a:t>© 2022 by the Casualty Actuarial Society. All rights reserved.</a:t>
            </a:r>
          </a:p>
          <a:p>
            <a:endParaRPr lang="en-US"/>
          </a:p>
        </p:txBody>
      </p:sp>
      <p:sp>
        <p:nvSpPr>
          <p:cNvPr id="4" name="Slide Number Placeholder 3"/>
          <p:cNvSpPr>
            <a:spLocks noGrp="1"/>
          </p:cNvSpPr>
          <p:nvPr>
            <p:ph type="sldNum" sz="quarter" idx="12"/>
          </p:nvPr>
        </p:nvSpPr>
        <p:spPr/>
        <p:txBody>
          <a:bodyPr/>
          <a:lstStyle/>
          <a:p>
            <a:fld id="{273E7623-BBEB-4428-BB2F-61EF81B76904}" type="slidenum">
              <a:rPr lang="en-US" smtClean="0"/>
              <a:t>‹#›</a:t>
            </a:fld>
            <a:endParaRPr lang="en-US"/>
          </a:p>
        </p:txBody>
      </p:sp>
    </p:spTree>
    <p:extLst>
      <p:ext uri="{BB962C8B-B14F-4D97-AF65-F5344CB8AC3E}">
        <p14:creationId xmlns:p14="http://schemas.microsoft.com/office/powerpoint/2010/main" val="875630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64A6E4-CFA0-4B2D-8F32-633E0859C1D1}" type="datetimeFigureOut">
              <a:rPr lang="en-US" smtClean="0"/>
              <a:t>1/15/2026</a:t>
            </a:fld>
            <a:endParaRPr lang="en-US"/>
          </a:p>
        </p:txBody>
      </p:sp>
      <p:sp>
        <p:nvSpPr>
          <p:cNvPr id="6" name="Footer Placeholder 5"/>
          <p:cNvSpPr>
            <a:spLocks noGrp="1"/>
          </p:cNvSpPr>
          <p:nvPr>
            <p:ph type="ftr" sz="quarter" idx="11"/>
          </p:nvPr>
        </p:nvSpPr>
        <p:spPr/>
        <p:txBody>
          <a:bodyPr/>
          <a:lstStyle/>
          <a:p>
            <a:r>
              <a:rPr lang="en-US"/>
              <a:t>© 2022 by the Casualty Actuarial Society. All rights reserved.</a:t>
            </a:r>
          </a:p>
          <a:p>
            <a:endParaRPr lang="en-US"/>
          </a:p>
        </p:txBody>
      </p:sp>
      <p:sp>
        <p:nvSpPr>
          <p:cNvPr id="7" name="Slide Number Placeholder 6"/>
          <p:cNvSpPr>
            <a:spLocks noGrp="1"/>
          </p:cNvSpPr>
          <p:nvPr>
            <p:ph type="sldNum" sz="quarter" idx="12"/>
          </p:nvPr>
        </p:nvSpPr>
        <p:spPr/>
        <p:txBody>
          <a:bodyPr/>
          <a:lstStyle/>
          <a:p>
            <a:fld id="{273E7623-BBEB-4428-BB2F-61EF81B76904}" type="slidenum">
              <a:rPr lang="en-US" smtClean="0"/>
              <a:t>‹#›</a:t>
            </a:fld>
            <a:endParaRPr lang="en-US"/>
          </a:p>
        </p:txBody>
      </p:sp>
    </p:spTree>
    <p:extLst>
      <p:ext uri="{BB962C8B-B14F-4D97-AF65-F5344CB8AC3E}">
        <p14:creationId xmlns:p14="http://schemas.microsoft.com/office/powerpoint/2010/main" val="2221261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64A6E4-CFA0-4B2D-8F32-633E0859C1D1}" type="datetimeFigureOut">
              <a:rPr lang="en-US" smtClean="0"/>
              <a:t>1/15/2026</a:t>
            </a:fld>
            <a:endParaRPr lang="en-US"/>
          </a:p>
        </p:txBody>
      </p:sp>
      <p:sp>
        <p:nvSpPr>
          <p:cNvPr id="6" name="Footer Placeholder 5"/>
          <p:cNvSpPr>
            <a:spLocks noGrp="1"/>
          </p:cNvSpPr>
          <p:nvPr>
            <p:ph type="ftr" sz="quarter" idx="11"/>
          </p:nvPr>
        </p:nvSpPr>
        <p:spPr/>
        <p:txBody>
          <a:bodyPr/>
          <a:lstStyle/>
          <a:p>
            <a:r>
              <a:rPr lang="en-US"/>
              <a:t>© 2022 by the Casualty Actuarial Society. All rights reserved.</a:t>
            </a:r>
          </a:p>
          <a:p>
            <a:endParaRPr lang="en-US"/>
          </a:p>
        </p:txBody>
      </p:sp>
      <p:sp>
        <p:nvSpPr>
          <p:cNvPr id="7" name="Slide Number Placeholder 6"/>
          <p:cNvSpPr>
            <a:spLocks noGrp="1"/>
          </p:cNvSpPr>
          <p:nvPr>
            <p:ph type="sldNum" sz="quarter" idx="12"/>
          </p:nvPr>
        </p:nvSpPr>
        <p:spPr/>
        <p:txBody>
          <a:bodyPr/>
          <a:lstStyle/>
          <a:p>
            <a:fld id="{273E7623-BBEB-4428-BB2F-61EF81B76904}" type="slidenum">
              <a:rPr lang="en-US" smtClean="0"/>
              <a:t>‹#›</a:t>
            </a:fld>
            <a:endParaRPr lang="en-US"/>
          </a:p>
        </p:txBody>
      </p:sp>
    </p:spTree>
    <p:extLst>
      <p:ext uri="{BB962C8B-B14F-4D97-AF65-F5344CB8AC3E}">
        <p14:creationId xmlns:p14="http://schemas.microsoft.com/office/powerpoint/2010/main" val="744558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64A6E4-CFA0-4B2D-8F32-633E0859C1D1}"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273E7623-BBEB-4428-BB2F-61EF81B76904}" type="slidenum">
              <a:rPr lang="en-US" smtClean="0"/>
              <a:t>‹#›</a:t>
            </a:fld>
            <a:endParaRPr lang="en-US"/>
          </a:p>
        </p:txBody>
      </p:sp>
    </p:spTree>
    <p:extLst>
      <p:ext uri="{BB962C8B-B14F-4D97-AF65-F5344CB8AC3E}">
        <p14:creationId xmlns:p14="http://schemas.microsoft.com/office/powerpoint/2010/main" val="3005641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64A6E4-CFA0-4B2D-8F32-633E0859C1D1}"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273E7623-BBEB-4428-BB2F-61EF81B76904}" type="slidenum">
              <a:rPr lang="en-US" smtClean="0"/>
              <a:t>‹#›</a:t>
            </a:fld>
            <a:endParaRPr lang="en-US"/>
          </a:p>
        </p:txBody>
      </p:sp>
    </p:spTree>
    <p:extLst>
      <p:ext uri="{BB962C8B-B14F-4D97-AF65-F5344CB8AC3E}">
        <p14:creationId xmlns:p14="http://schemas.microsoft.com/office/powerpoint/2010/main" val="3242926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29218227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30074707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1771125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1AB61E-2E6B-44C9-AA85-BEFCC1C9B2A8}" type="datetimeFigureOut">
              <a:rPr lang="en-US" smtClean="0"/>
              <a:t>1/15/2026</a:t>
            </a:fld>
            <a:endParaRPr lang="en-US"/>
          </a:p>
        </p:txBody>
      </p:sp>
      <p:sp>
        <p:nvSpPr>
          <p:cNvPr id="6" name="Footer Placeholder 5"/>
          <p:cNvSpPr>
            <a:spLocks noGrp="1"/>
          </p:cNvSpPr>
          <p:nvPr>
            <p:ph type="ftr" sz="quarter" idx="11"/>
          </p:nvPr>
        </p:nvSpPr>
        <p:spPr/>
        <p:txBody>
          <a:bodyPr/>
          <a:lstStyle/>
          <a:p>
            <a:r>
              <a:rPr lang="en-US"/>
              <a:t>© 2022 by the Casualty Actuarial Society. All rights reserved.</a:t>
            </a:r>
          </a:p>
          <a:p>
            <a:endParaRPr lang="en-US"/>
          </a:p>
        </p:txBody>
      </p:sp>
      <p:sp>
        <p:nvSpPr>
          <p:cNvPr id="7" name="Slide Number Placeholder 6"/>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32787818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1AB61E-2E6B-44C9-AA85-BEFCC1C9B2A8}" type="datetimeFigureOut">
              <a:rPr lang="en-US" smtClean="0"/>
              <a:t>1/15/2026</a:t>
            </a:fld>
            <a:endParaRPr lang="en-US"/>
          </a:p>
        </p:txBody>
      </p:sp>
      <p:sp>
        <p:nvSpPr>
          <p:cNvPr id="8" name="Footer Placeholder 7"/>
          <p:cNvSpPr>
            <a:spLocks noGrp="1"/>
          </p:cNvSpPr>
          <p:nvPr>
            <p:ph type="ftr" sz="quarter" idx="11"/>
          </p:nvPr>
        </p:nvSpPr>
        <p:spPr/>
        <p:txBody>
          <a:bodyPr/>
          <a:lstStyle/>
          <a:p>
            <a:r>
              <a:rPr lang="en-US"/>
              <a:t>© 2022 by the Casualty Actuarial Society. All rights reserved.</a:t>
            </a:r>
          </a:p>
          <a:p>
            <a:endParaRPr lang="en-US"/>
          </a:p>
        </p:txBody>
      </p:sp>
      <p:sp>
        <p:nvSpPr>
          <p:cNvPr id="9" name="Slide Number Placeholder 8"/>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13636616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1AB61E-2E6B-44C9-AA85-BEFCC1C9B2A8}" type="datetimeFigureOut">
              <a:rPr lang="en-US" smtClean="0"/>
              <a:t>1/15/2026</a:t>
            </a:fld>
            <a:endParaRPr lang="en-US"/>
          </a:p>
        </p:txBody>
      </p:sp>
      <p:sp>
        <p:nvSpPr>
          <p:cNvPr id="4" name="Footer Placeholder 3"/>
          <p:cNvSpPr>
            <a:spLocks noGrp="1"/>
          </p:cNvSpPr>
          <p:nvPr>
            <p:ph type="ftr" sz="quarter" idx="11"/>
          </p:nvPr>
        </p:nvSpPr>
        <p:spPr/>
        <p:txBody>
          <a:bodyPr/>
          <a:lstStyle/>
          <a:p>
            <a:r>
              <a:rPr lang="en-US"/>
              <a:t>© 2022 by the Casualty Actuarial Society. All rights reserved.</a:t>
            </a:r>
          </a:p>
          <a:p>
            <a:endParaRPr lang="en-US"/>
          </a:p>
        </p:txBody>
      </p:sp>
      <p:sp>
        <p:nvSpPr>
          <p:cNvPr id="5" name="Slide Number Placeholder 4"/>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41974480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1AB61E-2E6B-44C9-AA85-BEFCC1C9B2A8}" type="datetimeFigureOut">
              <a:rPr lang="en-US" smtClean="0"/>
              <a:t>1/15/2026</a:t>
            </a:fld>
            <a:endParaRPr lang="en-US"/>
          </a:p>
        </p:txBody>
      </p:sp>
      <p:sp>
        <p:nvSpPr>
          <p:cNvPr id="3" name="Footer Placeholder 2"/>
          <p:cNvSpPr>
            <a:spLocks noGrp="1"/>
          </p:cNvSpPr>
          <p:nvPr>
            <p:ph type="ftr" sz="quarter" idx="11"/>
          </p:nvPr>
        </p:nvSpPr>
        <p:spPr/>
        <p:txBody>
          <a:bodyPr/>
          <a:lstStyle/>
          <a:p>
            <a:r>
              <a:rPr lang="en-US"/>
              <a:t>© 2022 by the Casualty Actuarial Society. All rights reserved.</a:t>
            </a:r>
          </a:p>
          <a:p>
            <a:endParaRPr lang="en-US"/>
          </a:p>
        </p:txBody>
      </p:sp>
      <p:sp>
        <p:nvSpPr>
          <p:cNvPr id="4" name="Slide Number Placeholder 3"/>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3276847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1AB61E-2E6B-44C9-AA85-BEFCC1C9B2A8}" type="datetimeFigureOut">
              <a:rPr lang="en-US" smtClean="0"/>
              <a:t>1/15/2026</a:t>
            </a:fld>
            <a:endParaRPr lang="en-US"/>
          </a:p>
        </p:txBody>
      </p:sp>
      <p:sp>
        <p:nvSpPr>
          <p:cNvPr id="6" name="Footer Placeholder 5"/>
          <p:cNvSpPr>
            <a:spLocks noGrp="1"/>
          </p:cNvSpPr>
          <p:nvPr>
            <p:ph type="ftr" sz="quarter" idx="11"/>
          </p:nvPr>
        </p:nvSpPr>
        <p:spPr/>
        <p:txBody>
          <a:bodyPr/>
          <a:lstStyle/>
          <a:p>
            <a:r>
              <a:rPr lang="en-US"/>
              <a:t>© 2022 by the Casualty Actuarial Society. All rights reserved.</a:t>
            </a:r>
          </a:p>
          <a:p>
            <a:endParaRPr lang="en-US"/>
          </a:p>
        </p:txBody>
      </p:sp>
      <p:sp>
        <p:nvSpPr>
          <p:cNvPr id="7" name="Slide Number Placeholder 6"/>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22534232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1AB61E-2E6B-44C9-AA85-BEFCC1C9B2A8}" type="datetimeFigureOut">
              <a:rPr lang="en-US" smtClean="0"/>
              <a:t>1/15/2026</a:t>
            </a:fld>
            <a:endParaRPr lang="en-US"/>
          </a:p>
        </p:txBody>
      </p:sp>
      <p:sp>
        <p:nvSpPr>
          <p:cNvPr id="6" name="Footer Placeholder 5"/>
          <p:cNvSpPr>
            <a:spLocks noGrp="1"/>
          </p:cNvSpPr>
          <p:nvPr>
            <p:ph type="ftr" sz="quarter" idx="11"/>
          </p:nvPr>
        </p:nvSpPr>
        <p:spPr/>
        <p:txBody>
          <a:bodyPr/>
          <a:lstStyle/>
          <a:p>
            <a:r>
              <a:rPr lang="en-US"/>
              <a:t>© 2022 by the Casualty Actuarial Society. All rights reserved.</a:t>
            </a:r>
          </a:p>
          <a:p>
            <a:endParaRPr lang="en-US"/>
          </a:p>
        </p:txBody>
      </p:sp>
      <p:sp>
        <p:nvSpPr>
          <p:cNvPr id="7" name="Slide Number Placeholder 6"/>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24651171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39098704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16230900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28167857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38949373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34257784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1AB61E-2E6B-44C9-AA85-BEFCC1C9B2A8}" type="datetimeFigureOut">
              <a:rPr lang="en-US" smtClean="0"/>
              <a:t>1/15/2026</a:t>
            </a:fld>
            <a:endParaRPr lang="en-US"/>
          </a:p>
        </p:txBody>
      </p:sp>
      <p:sp>
        <p:nvSpPr>
          <p:cNvPr id="6" name="Footer Placeholder 5"/>
          <p:cNvSpPr>
            <a:spLocks noGrp="1"/>
          </p:cNvSpPr>
          <p:nvPr>
            <p:ph type="ftr" sz="quarter" idx="11"/>
          </p:nvPr>
        </p:nvSpPr>
        <p:spPr/>
        <p:txBody>
          <a:bodyPr/>
          <a:lstStyle/>
          <a:p>
            <a:r>
              <a:rPr lang="en-US"/>
              <a:t>© 2022 by the Casualty Actuarial Society. All rights reserved.</a:t>
            </a:r>
          </a:p>
          <a:p>
            <a:endParaRPr lang="en-US"/>
          </a:p>
        </p:txBody>
      </p:sp>
      <p:sp>
        <p:nvSpPr>
          <p:cNvPr id="7" name="Slide Number Placeholder 6"/>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32359924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1AB61E-2E6B-44C9-AA85-BEFCC1C9B2A8}" type="datetimeFigureOut">
              <a:rPr lang="en-US" smtClean="0"/>
              <a:t>1/15/2026</a:t>
            </a:fld>
            <a:endParaRPr lang="en-US"/>
          </a:p>
        </p:txBody>
      </p:sp>
      <p:sp>
        <p:nvSpPr>
          <p:cNvPr id="8" name="Footer Placeholder 7"/>
          <p:cNvSpPr>
            <a:spLocks noGrp="1"/>
          </p:cNvSpPr>
          <p:nvPr>
            <p:ph type="ftr" sz="quarter" idx="11"/>
          </p:nvPr>
        </p:nvSpPr>
        <p:spPr/>
        <p:txBody>
          <a:bodyPr/>
          <a:lstStyle/>
          <a:p>
            <a:r>
              <a:rPr lang="en-US"/>
              <a:t>© 2022 by the Casualty Actuarial Society. All rights reserved.</a:t>
            </a:r>
          </a:p>
          <a:p>
            <a:endParaRPr lang="en-US"/>
          </a:p>
        </p:txBody>
      </p:sp>
      <p:sp>
        <p:nvSpPr>
          <p:cNvPr id="9" name="Slide Number Placeholder 8"/>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37816373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1AB61E-2E6B-44C9-AA85-BEFCC1C9B2A8}" type="datetimeFigureOut">
              <a:rPr lang="en-US" smtClean="0"/>
              <a:t>1/15/2026</a:t>
            </a:fld>
            <a:endParaRPr lang="en-US"/>
          </a:p>
        </p:txBody>
      </p:sp>
      <p:sp>
        <p:nvSpPr>
          <p:cNvPr id="4" name="Footer Placeholder 3"/>
          <p:cNvSpPr>
            <a:spLocks noGrp="1"/>
          </p:cNvSpPr>
          <p:nvPr>
            <p:ph type="ftr" sz="quarter" idx="11"/>
          </p:nvPr>
        </p:nvSpPr>
        <p:spPr/>
        <p:txBody>
          <a:bodyPr/>
          <a:lstStyle/>
          <a:p>
            <a:r>
              <a:rPr lang="en-US"/>
              <a:t>© 2022 by the Casualty Actuarial Society. All rights reserved.</a:t>
            </a:r>
          </a:p>
          <a:p>
            <a:endParaRPr lang="en-US"/>
          </a:p>
        </p:txBody>
      </p:sp>
      <p:sp>
        <p:nvSpPr>
          <p:cNvPr id="5" name="Slide Number Placeholder 4"/>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9033097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1AB61E-2E6B-44C9-AA85-BEFCC1C9B2A8}" type="datetimeFigureOut">
              <a:rPr lang="en-US" smtClean="0"/>
              <a:t>1/15/2026</a:t>
            </a:fld>
            <a:endParaRPr lang="en-US"/>
          </a:p>
        </p:txBody>
      </p:sp>
      <p:sp>
        <p:nvSpPr>
          <p:cNvPr id="3" name="Footer Placeholder 2"/>
          <p:cNvSpPr>
            <a:spLocks noGrp="1"/>
          </p:cNvSpPr>
          <p:nvPr>
            <p:ph type="ftr" sz="quarter" idx="11"/>
          </p:nvPr>
        </p:nvSpPr>
        <p:spPr/>
        <p:txBody>
          <a:bodyPr/>
          <a:lstStyle/>
          <a:p>
            <a:r>
              <a:rPr lang="en-US"/>
              <a:t>© 2022 by the Casualty Actuarial Society. All rights reserved.</a:t>
            </a:r>
          </a:p>
          <a:p>
            <a:endParaRPr lang="en-US"/>
          </a:p>
        </p:txBody>
      </p:sp>
      <p:sp>
        <p:nvSpPr>
          <p:cNvPr id="4" name="Slide Number Placeholder 3"/>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34249865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1AB61E-2E6B-44C9-AA85-BEFCC1C9B2A8}" type="datetimeFigureOut">
              <a:rPr lang="en-US" smtClean="0"/>
              <a:t>1/15/2026</a:t>
            </a:fld>
            <a:endParaRPr lang="en-US"/>
          </a:p>
        </p:txBody>
      </p:sp>
      <p:sp>
        <p:nvSpPr>
          <p:cNvPr id="6" name="Footer Placeholder 5"/>
          <p:cNvSpPr>
            <a:spLocks noGrp="1"/>
          </p:cNvSpPr>
          <p:nvPr>
            <p:ph type="ftr" sz="quarter" idx="11"/>
          </p:nvPr>
        </p:nvSpPr>
        <p:spPr/>
        <p:txBody>
          <a:bodyPr/>
          <a:lstStyle/>
          <a:p>
            <a:r>
              <a:rPr lang="en-US"/>
              <a:t>© 2022 by the Casualty Actuarial Society. All rights reserved.</a:t>
            </a:r>
          </a:p>
          <a:p>
            <a:endParaRPr lang="en-US"/>
          </a:p>
        </p:txBody>
      </p:sp>
      <p:sp>
        <p:nvSpPr>
          <p:cNvPr id="7" name="Slide Number Placeholder 6"/>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29646245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1AB61E-2E6B-44C9-AA85-BEFCC1C9B2A8}" type="datetimeFigureOut">
              <a:rPr lang="en-US" smtClean="0"/>
              <a:t>1/15/2026</a:t>
            </a:fld>
            <a:endParaRPr lang="en-US"/>
          </a:p>
        </p:txBody>
      </p:sp>
      <p:sp>
        <p:nvSpPr>
          <p:cNvPr id="6" name="Footer Placeholder 5"/>
          <p:cNvSpPr>
            <a:spLocks noGrp="1"/>
          </p:cNvSpPr>
          <p:nvPr>
            <p:ph type="ftr" sz="quarter" idx="11"/>
          </p:nvPr>
        </p:nvSpPr>
        <p:spPr/>
        <p:txBody>
          <a:bodyPr/>
          <a:lstStyle/>
          <a:p>
            <a:r>
              <a:rPr lang="en-US"/>
              <a:t>© 2022 by the Casualty Actuarial Society. All rights reserved.</a:t>
            </a:r>
          </a:p>
          <a:p>
            <a:endParaRPr lang="en-US"/>
          </a:p>
        </p:txBody>
      </p:sp>
      <p:sp>
        <p:nvSpPr>
          <p:cNvPr id="7" name="Slide Number Placeholder 6"/>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21077503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11256597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16102850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marL="914400" indent="-914400" algn="l">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450E76A-FAF2-4A6E-A83D-83CD6FB7B52C}"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E857BCBB-6C30-4328-AAD0-446EE83A25AA}" type="slidenum">
              <a:rPr lang="en-US" smtClean="0"/>
              <a:t>‹#›</a:t>
            </a:fld>
            <a:endParaRPr lang="en-US"/>
          </a:p>
        </p:txBody>
      </p:sp>
    </p:spTree>
    <p:extLst>
      <p:ext uri="{BB962C8B-B14F-4D97-AF65-F5344CB8AC3E}">
        <p14:creationId xmlns:p14="http://schemas.microsoft.com/office/powerpoint/2010/main" val="9662735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50E76A-FAF2-4A6E-A83D-83CD6FB7B52C}"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E857BCBB-6C30-4328-AAD0-446EE83A25AA}" type="slidenum">
              <a:rPr lang="en-US" smtClean="0"/>
              <a:t>‹#›</a:t>
            </a:fld>
            <a:endParaRPr lang="en-US"/>
          </a:p>
        </p:txBody>
      </p:sp>
    </p:spTree>
    <p:extLst>
      <p:ext uri="{BB962C8B-B14F-4D97-AF65-F5344CB8AC3E}">
        <p14:creationId xmlns:p14="http://schemas.microsoft.com/office/powerpoint/2010/main" val="24322383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50E76A-FAF2-4A6E-A83D-83CD6FB7B52C}"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E857BCBB-6C30-4328-AAD0-446EE83A25AA}" type="slidenum">
              <a:rPr lang="en-US" smtClean="0"/>
              <a:t>‹#›</a:t>
            </a:fld>
            <a:endParaRPr lang="en-US"/>
          </a:p>
        </p:txBody>
      </p:sp>
    </p:spTree>
    <p:extLst>
      <p:ext uri="{BB962C8B-B14F-4D97-AF65-F5344CB8AC3E}">
        <p14:creationId xmlns:p14="http://schemas.microsoft.com/office/powerpoint/2010/main" val="12480281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450E76A-FAF2-4A6E-A83D-83CD6FB7B52C}" type="datetimeFigureOut">
              <a:rPr lang="en-US" smtClean="0"/>
              <a:t>1/15/2026</a:t>
            </a:fld>
            <a:endParaRPr lang="en-US"/>
          </a:p>
        </p:txBody>
      </p:sp>
      <p:sp>
        <p:nvSpPr>
          <p:cNvPr id="6" name="Footer Placeholder 5"/>
          <p:cNvSpPr>
            <a:spLocks noGrp="1"/>
          </p:cNvSpPr>
          <p:nvPr>
            <p:ph type="ftr" sz="quarter" idx="11"/>
          </p:nvPr>
        </p:nvSpPr>
        <p:spPr/>
        <p:txBody>
          <a:bodyPr/>
          <a:lstStyle/>
          <a:p>
            <a:r>
              <a:rPr lang="en-US"/>
              <a:t>© 2022 by the Casualty Actuarial Society. All rights reserved.</a:t>
            </a:r>
          </a:p>
          <a:p>
            <a:endParaRPr lang="en-US"/>
          </a:p>
        </p:txBody>
      </p:sp>
      <p:sp>
        <p:nvSpPr>
          <p:cNvPr id="7" name="Slide Number Placeholder 6"/>
          <p:cNvSpPr>
            <a:spLocks noGrp="1"/>
          </p:cNvSpPr>
          <p:nvPr>
            <p:ph type="sldNum" sz="quarter" idx="12"/>
          </p:nvPr>
        </p:nvSpPr>
        <p:spPr/>
        <p:txBody>
          <a:bodyPr/>
          <a:lstStyle/>
          <a:p>
            <a:fld id="{E857BCBB-6C30-4328-AAD0-446EE83A25AA}" type="slidenum">
              <a:rPr lang="en-US" smtClean="0"/>
              <a:t>‹#›</a:t>
            </a:fld>
            <a:endParaRPr lang="en-US"/>
          </a:p>
        </p:txBody>
      </p:sp>
    </p:spTree>
    <p:extLst>
      <p:ext uri="{BB962C8B-B14F-4D97-AF65-F5344CB8AC3E}">
        <p14:creationId xmlns:p14="http://schemas.microsoft.com/office/powerpoint/2010/main" val="23968900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50E76A-FAF2-4A6E-A83D-83CD6FB7B52C}" type="datetimeFigureOut">
              <a:rPr lang="en-US" smtClean="0"/>
              <a:t>1/15/2026</a:t>
            </a:fld>
            <a:endParaRPr lang="en-US"/>
          </a:p>
        </p:txBody>
      </p:sp>
      <p:sp>
        <p:nvSpPr>
          <p:cNvPr id="8" name="Footer Placeholder 7"/>
          <p:cNvSpPr>
            <a:spLocks noGrp="1"/>
          </p:cNvSpPr>
          <p:nvPr>
            <p:ph type="ftr" sz="quarter" idx="11"/>
          </p:nvPr>
        </p:nvSpPr>
        <p:spPr/>
        <p:txBody>
          <a:bodyPr/>
          <a:lstStyle/>
          <a:p>
            <a:r>
              <a:rPr lang="en-US"/>
              <a:t>© 2022 by the Casualty Actuarial Society. All rights reserved.</a:t>
            </a:r>
          </a:p>
          <a:p>
            <a:endParaRPr lang="en-US"/>
          </a:p>
        </p:txBody>
      </p:sp>
      <p:sp>
        <p:nvSpPr>
          <p:cNvPr id="9" name="Slide Number Placeholder 8"/>
          <p:cNvSpPr>
            <a:spLocks noGrp="1"/>
          </p:cNvSpPr>
          <p:nvPr>
            <p:ph type="sldNum" sz="quarter" idx="12"/>
          </p:nvPr>
        </p:nvSpPr>
        <p:spPr/>
        <p:txBody>
          <a:bodyPr/>
          <a:lstStyle/>
          <a:p>
            <a:fld id="{E857BCBB-6C30-4328-AAD0-446EE83A25AA}" type="slidenum">
              <a:rPr lang="en-US" smtClean="0"/>
              <a:t>‹#›</a:t>
            </a:fld>
            <a:endParaRPr lang="en-US"/>
          </a:p>
        </p:txBody>
      </p:sp>
    </p:spTree>
    <p:extLst>
      <p:ext uri="{BB962C8B-B14F-4D97-AF65-F5344CB8AC3E}">
        <p14:creationId xmlns:p14="http://schemas.microsoft.com/office/powerpoint/2010/main" val="37103375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450E76A-FAF2-4A6E-A83D-83CD6FB7B52C}" type="datetimeFigureOut">
              <a:rPr lang="en-US" smtClean="0"/>
              <a:t>1/15/2026</a:t>
            </a:fld>
            <a:endParaRPr lang="en-US"/>
          </a:p>
        </p:txBody>
      </p:sp>
      <p:sp>
        <p:nvSpPr>
          <p:cNvPr id="4" name="Footer Placeholder 3"/>
          <p:cNvSpPr>
            <a:spLocks noGrp="1"/>
          </p:cNvSpPr>
          <p:nvPr>
            <p:ph type="ftr" sz="quarter" idx="11"/>
          </p:nvPr>
        </p:nvSpPr>
        <p:spPr/>
        <p:txBody>
          <a:bodyPr/>
          <a:lstStyle/>
          <a:p>
            <a:r>
              <a:rPr lang="en-US"/>
              <a:t>© 2022 by the Casualty Actuarial Society. All rights reserved.</a:t>
            </a:r>
          </a:p>
          <a:p>
            <a:endParaRPr lang="en-US"/>
          </a:p>
        </p:txBody>
      </p:sp>
      <p:sp>
        <p:nvSpPr>
          <p:cNvPr id="5" name="Slide Number Placeholder 4"/>
          <p:cNvSpPr>
            <a:spLocks noGrp="1"/>
          </p:cNvSpPr>
          <p:nvPr>
            <p:ph type="sldNum" sz="quarter" idx="12"/>
          </p:nvPr>
        </p:nvSpPr>
        <p:spPr/>
        <p:txBody>
          <a:bodyPr/>
          <a:lstStyle/>
          <a:p>
            <a:fld id="{E857BCBB-6C30-4328-AAD0-446EE83A25AA}" type="slidenum">
              <a:rPr lang="en-US" smtClean="0"/>
              <a:t>‹#›</a:t>
            </a:fld>
            <a:endParaRPr lang="en-US"/>
          </a:p>
        </p:txBody>
      </p:sp>
    </p:spTree>
    <p:extLst>
      <p:ext uri="{BB962C8B-B14F-4D97-AF65-F5344CB8AC3E}">
        <p14:creationId xmlns:p14="http://schemas.microsoft.com/office/powerpoint/2010/main" val="20412642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0E76A-FAF2-4A6E-A83D-83CD6FB7B52C}" type="datetimeFigureOut">
              <a:rPr lang="en-US" smtClean="0"/>
              <a:t>1/15/2026</a:t>
            </a:fld>
            <a:endParaRPr lang="en-US"/>
          </a:p>
        </p:txBody>
      </p:sp>
      <p:sp>
        <p:nvSpPr>
          <p:cNvPr id="3" name="Footer Placeholder 2"/>
          <p:cNvSpPr>
            <a:spLocks noGrp="1"/>
          </p:cNvSpPr>
          <p:nvPr>
            <p:ph type="ftr" sz="quarter" idx="11"/>
          </p:nvPr>
        </p:nvSpPr>
        <p:spPr/>
        <p:txBody>
          <a:bodyPr/>
          <a:lstStyle/>
          <a:p>
            <a:r>
              <a:rPr lang="en-US"/>
              <a:t>© 2022 by the Casualty Actuarial Society. All rights reserved.</a:t>
            </a:r>
          </a:p>
          <a:p>
            <a:endParaRPr lang="en-US"/>
          </a:p>
        </p:txBody>
      </p:sp>
      <p:sp>
        <p:nvSpPr>
          <p:cNvPr id="4" name="Slide Number Placeholder 3"/>
          <p:cNvSpPr>
            <a:spLocks noGrp="1"/>
          </p:cNvSpPr>
          <p:nvPr>
            <p:ph type="sldNum" sz="quarter" idx="12"/>
          </p:nvPr>
        </p:nvSpPr>
        <p:spPr/>
        <p:txBody>
          <a:bodyPr/>
          <a:lstStyle/>
          <a:p>
            <a:fld id="{E857BCBB-6C30-4328-AAD0-446EE83A25AA}" type="slidenum">
              <a:rPr lang="en-US" smtClean="0"/>
              <a:t>‹#›</a:t>
            </a:fld>
            <a:endParaRPr lang="en-US"/>
          </a:p>
        </p:txBody>
      </p:sp>
    </p:spTree>
    <p:extLst>
      <p:ext uri="{BB962C8B-B14F-4D97-AF65-F5344CB8AC3E}">
        <p14:creationId xmlns:p14="http://schemas.microsoft.com/office/powerpoint/2010/main" val="383867803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50E76A-FAF2-4A6E-A83D-83CD6FB7B52C}" type="datetimeFigureOut">
              <a:rPr lang="en-US" smtClean="0"/>
              <a:t>1/15/2026</a:t>
            </a:fld>
            <a:endParaRPr lang="en-US"/>
          </a:p>
        </p:txBody>
      </p:sp>
      <p:sp>
        <p:nvSpPr>
          <p:cNvPr id="6" name="Footer Placeholder 5"/>
          <p:cNvSpPr>
            <a:spLocks noGrp="1"/>
          </p:cNvSpPr>
          <p:nvPr>
            <p:ph type="ftr" sz="quarter" idx="11"/>
          </p:nvPr>
        </p:nvSpPr>
        <p:spPr/>
        <p:txBody>
          <a:bodyPr/>
          <a:lstStyle/>
          <a:p>
            <a:r>
              <a:rPr lang="en-US"/>
              <a:t>© 2022 by the Casualty Actuarial Society. All rights reserved.</a:t>
            </a:r>
          </a:p>
          <a:p>
            <a:endParaRPr lang="en-US"/>
          </a:p>
        </p:txBody>
      </p:sp>
      <p:sp>
        <p:nvSpPr>
          <p:cNvPr id="7" name="Slide Number Placeholder 6"/>
          <p:cNvSpPr>
            <a:spLocks noGrp="1"/>
          </p:cNvSpPr>
          <p:nvPr>
            <p:ph type="sldNum" sz="quarter" idx="12"/>
          </p:nvPr>
        </p:nvSpPr>
        <p:spPr/>
        <p:txBody>
          <a:bodyPr/>
          <a:lstStyle/>
          <a:p>
            <a:fld id="{E857BCBB-6C30-4328-AAD0-446EE83A25AA}" type="slidenum">
              <a:rPr lang="en-US" smtClean="0"/>
              <a:t>‹#›</a:t>
            </a:fld>
            <a:endParaRPr lang="en-US"/>
          </a:p>
        </p:txBody>
      </p:sp>
    </p:spTree>
    <p:extLst>
      <p:ext uri="{BB962C8B-B14F-4D97-AF65-F5344CB8AC3E}">
        <p14:creationId xmlns:p14="http://schemas.microsoft.com/office/powerpoint/2010/main" val="287022327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50E76A-FAF2-4A6E-A83D-83CD6FB7B52C}" type="datetimeFigureOut">
              <a:rPr lang="en-US" smtClean="0"/>
              <a:t>1/15/2026</a:t>
            </a:fld>
            <a:endParaRPr lang="en-US"/>
          </a:p>
        </p:txBody>
      </p:sp>
      <p:sp>
        <p:nvSpPr>
          <p:cNvPr id="6" name="Footer Placeholder 5"/>
          <p:cNvSpPr>
            <a:spLocks noGrp="1"/>
          </p:cNvSpPr>
          <p:nvPr>
            <p:ph type="ftr" sz="quarter" idx="11"/>
          </p:nvPr>
        </p:nvSpPr>
        <p:spPr/>
        <p:txBody>
          <a:bodyPr/>
          <a:lstStyle/>
          <a:p>
            <a:r>
              <a:rPr lang="en-US"/>
              <a:t>© 2022 by the Casualty Actuarial Society. All rights reserved.</a:t>
            </a:r>
          </a:p>
          <a:p>
            <a:endParaRPr lang="en-US"/>
          </a:p>
        </p:txBody>
      </p:sp>
      <p:sp>
        <p:nvSpPr>
          <p:cNvPr id="7" name="Slide Number Placeholder 6"/>
          <p:cNvSpPr>
            <a:spLocks noGrp="1"/>
          </p:cNvSpPr>
          <p:nvPr>
            <p:ph type="sldNum" sz="quarter" idx="12"/>
          </p:nvPr>
        </p:nvSpPr>
        <p:spPr/>
        <p:txBody>
          <a:bodyPr/>
          <a:lstStyle/>
          <a:p>
            <a:fld id="{E857BCBB-6C30-4328-AAD0-446EE83A25AA}" type="slidenum">
              <a:rPr lang="en-US" smtClean="0"/>
              <a:t>‹#›</a:t>
            </a:fld>
            <a:endParaRPr lang="en-US"/>
          </a:p>
        </p:txBody>
      </p:sp>
    </p:spTree>
    <p:extLst>
      <p:ext uri="{BB962C8B-B14F-4D97-AF65-F5344CB8AC3E}">
        <p14:creationId xmlns:p14="http://schemas.microsoft.com/office/powerpoint/2010/main" val="7528408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50E76A-FAF2-4A6E-A83D-83CD6FB7B52C}"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E857BCBB-6C30-4328-AAD0-446EE83A25AA}" type="slidenum">
              <a:rPr lang="en-US" smtClean="0"/>
              <a:t>‹#›</a:t>
            </a:fld>
            <a:endParaRPr lang="en-US"/>
          </a:p>
        </p:txBody>
      </p:sp>
    </p:spTree>
    <p:extLst>
      <p:ext uri="{BB962C8B-B14F-4D97-AF65-F5344CB8AC3E}">
        <p14:creationId xmlns:p14="http://schemas.microsoft.com/office/powerpoint/2010/main" val="32898405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50E76A-FAF2-4A6E-A83D-83CD6FB7B52C}"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E857BCBB-6C30-4328-AAD0-446EE83A25AA}" type="slidenum">
              <a:rPr lang="en-US" smtClean="0"/>
              <a:t>‹#›</a:t>
            </a:fld>
            <a:endParaRPr lang="en-US"/>
          </a:p>
        </p:txBody>
      </p:sp>
    </p:spTree>
    <p:extLst>
      <p:ext uri="{BB962C8B-B14F-4D97-AF65-F5344CB8AC3E}">
        <p14:creationId xmlns:p14="http://schemas.microsoft.com/office/powerpoint/2010/main" val="31124106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37303595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282972053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421284402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1AB61E-2E6B-44C9-AA85-BEFCC1C9B2A8}" type="datetimeFigureOut">
              <a:rPr lang="en-US" smtClean="0"/>
              <a:t>1/15/2026</a:t>
            </a:fld>
            <a:endParaRPr lang="en-US"/>
          </a:p>
        </p:txBody>
      </p:sp>
      <p:sp>
        <p:nvSpPr>
          <p:cNvPr id="6" name="Footer Placeholder 5"/>
          <p:cNvSpPr>
            <a:spLocks noGrp="1"/>
          </p:cNvSpPr>
          <p:nvPr>
            <p:ph type="ftr" sz="quarter" idx="11"/>
          </p:nvPr>
        </p:nvSpPr>
        <p:spPr/>
        <p:txBody>
          <a:bodyPr/>
          <a:lstStyle/>
          <a:p>
            <a:pPr>
              <a:defRPr/>
            </a:pPr>
            <a:r>
              <a:rPr lang="en-US"/>
              <a:t>© 2022 by the Casualty Actuarial Society. All rights reserved.</a:t>
            </a:r>
          </a:p>
        </p:txBody>
      </p:sp>
      <p:sp>
        <p:nvSpPr>
          <p:cNvPr id="7" name="Slide Number Placeholder 6"/>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8876353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1AB61E-2E6B-44C9-AA85-BEFCC1C9B2A8}"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32177289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1AB61E-2E6B-44C9-AA85-BEFCC1C9B2A8}" type="datetimeFigureOut">
              <a:rPr lang="en-US" smtClean="0"/>
              <a:t>1/15/2026</a:t>
            </a:fld>
            <a:endParaRPr lang="en-US"/>
          </a:p>
        </p:txBody>
      </p:sp>
      <p:sp>
        <p:nvSpPr>
          <p:cNvPr id="4" name="Footer Placeholder 3"/>
          <p:cNvSpPr>
            <a:spLocks noGrp="1"/>
          </p:cNvSpPr>
          <p:nvPr>
            <p:ph type="ftr" sz="quarter" idx="11"/>
          </p:nvPr>
        </p:nvSpPr>
        <p:spPr/>
        <p:txBody>
          <a:bodyPr/>
          <a:lstStyle/>
          <a:p>
            <a:r>
              <a:rPr lang="en-US"/>
              <a:t>© 2022 by the Casualty Actuarial Society. All rights reserved.</a:t>
            </a:r>
          </a:p>
          <a:p>
            <a:endParaRPr lang="en-US"/>
          </a:p>
        </p:txBody>
      </p:sp>
      <p:sp>
        <p:nvSpPr>
          <p:cNvPr id="5" name="Slide Number Placeholder 4"/>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22935185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1AB61E-2E6B-44C9-AA85-BEFCC1C9B2A8}" type="datetimeFigureOut">
              <a:rPr lang="en-US" smtClean="0"/>
              <a:t>1/15/2026</a:t>
            </a:fld>
            <a:endParaRPr lang="en-US"/>
          </a:p>
        </p:txBody>
      </p:sp>
      <p:sp>
        <p:nvSpPr>
          <p:cNvPr id="3" name="Footer Placeholder 2"/>
          <p:cNvSpPr>
            <a:spLocks noGrp="1"/>
          </p:cNvSpPr>
          <p:nvPr>
            <p:ph type="ftr" sz="quarter" idx="11"/>
          </p:nvPr>
        </p:nvSpPr>
        <p:spPr/>
        <p:txBody>
          <a:bodyPr/>
          <a:lstStyle/>
          <a:p>
            <a:r>
              <a:rPr lang="en-US"/>
              <a:t>© 2022 by the Casualty Actuarial Society. All rights reserved.</a:t>
            </a:r>
          </a:p>
          <a:p>
            <a:endParaRPr lang="en-US"/>
          </a:p>
        </p:txBody>
      </p:sp>
      <p:sp>
        <p:nvSpPr>
          <p:cNvPr id="4" name="Slide Number Placeholder 3"/>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30943821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1AB61E-2E6B-44C9-AA85-BEFCC1C9B2A8}" type="datetimeFigureOut">
              <a:rPr lang="en-US" smtClean="0"/>
              <a:t>1/15/2026</a:t>
            </a:fld>
            <a:endParaRPr lang="en-US"/>
          </a:p>
        </p:txBody>
      </p:sp>
      <p:sp>
        <p:nvSpPr>
          <p:cNvPr id="6" name="Footer Placeholder 5"/>
          <p:cNvSpPr>
            <a:spLocks noGrp="1"/>
          </p:cNvSpPr>
          <p:nvPr>
            <p:ph type="ftr" sz="quarter" idx="11"/>
          </p:nvPr>
        </p:nvSpPr>
        <p:spPr/>
        <p:txBody>
          <a:bodyPr/>
          <a:lstStyle/>
          <a:p>
            <a:r>
              <a:rPr lang="en-US"/>
              <a:t>© 2022 by the Casualty Actuarial Society. All rights reserved.</a:t>
            </a:r>
          </a:p>
          <a:p>
            <a:endParaRPr lang="en-US"/>
          </a:p>
        </p:txBody>
      </p:sp>
      <p:sp>
        <p:nvSpPr>
          <p:cNvPr id="7" name="Slide Number Placeholder 6"/>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390018451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1AB61E-2E6B-44C9-AA85-BEFCC1C9B2A8}" type="datetimeFigureOut">
              <a:rPr lang="en-US" smtClean="0"/>
              <a:t>1/15/2026</a:t>
            </a:fld>
            <a:endParaRPr lang="en-US"/>
          </a:p>
        </p:txBody>
      </p:sp>
      <p:sp>
        <p:nvSpPr>
          <p:cNvPr id="6" name="Footer Placeholder 5"/>
          <p:cNvSpPr>
            <a:spLocks noGrp="1"/>
          </p:cNvSpPr>
          <p:nvPr>
            <p:ph type="ftr" sz="quarter" idx="11"/>
          </p:nvPr>
        </p:nvSpPr>
        <p:spPr/>
        <p:txBody>
          <a:bodyPr/>
          <a:lstStyle/>
          <a:p>
            <a:r>
              <a:rPr lang="en-US"/>
              <a:t>© 2022 by the Casualty Actuarial Society. All rights reserved.</a:t>
            </a:r>
          </a:p>
          <a:p>
            <a:endParaRPr lang="en-US"/>
          </a:p>
        </p:txBody>
      </p:sp>
      <p:sp>
        <p:nvSpPr>
          <p:cNvPr id="7" name="Slide Number Placeholder 6"/>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15824187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28134287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1AB61E-2E6B-44C9-AA85-BEFCC1C9B2A8}" type="datetimeFigureOut">
              <a:rPr lang="en-US" smtClean="0"/>
              <a:t>1/15/2026</a:t>
            </a:fld>
            <a:endParaRPr lang="en-US"/>
          </a:p>
        </p:txBody>
      </p:sp>
      <p:sp>
        <p:nvSpPr>
          <p:cNvPr id="5" name="Footer Placeholder 4"/>
          <p:cNvSpPr>
            <a:spLocks noGrp="1"/>
          </p:cNvSpPr>
          <p:nvPr>
            <p:ph type="ftr" sz="quarter" idx="11"/>
          </p:nvPr>
        </p:nvSpPr>
        <p:spPr/>
        <p:txBody>
          <a:bodyPr/>
          <a:lstStyle/>
          <a:p>
            <a:r>
              <a:rPr lang="en-US"/>
              <a:t>© 2022 by the Casualty Actuarial Society. All rights reserved.</a:t>
            </a:r>
          </a:p>
          <a:p>
            <a:endParaRPr lang="en-US"/>
          </a:p>
        </p:txBody>
      </p:sp>
      <p:sp>
        <p:nvSpPr>
          <p:cNvPr id="6" name="Slide Number Placeholder 5"/>
          <p:cNvSpPr>
            <a:spLocks noGrp="1"/>
          </p:cNvSpPr>
          <p:nvPr>
            <p:ph type="sldNum" sz="quarter" idx="12"/>
          </p:nvPr>
        </p:nvSpPr>
        <p:spPr/>
        <p:txBody>
          <a:bodyPr/>
          <a:lstStyle/>
          <a:p>
            <a:fld id="{9F064EB1-AA73-4F06-AC58-EA3ED7859B38}" type="slidenum">
              <a:rPr lang="en-US" smtClean="0"/>
              <a:t>‹#›</a:t>
            </a:fld>
            <a:endParaRPr lang="en-US"/>
          </a:p>
        </p:txBody>
      </p:sp>
    </p:spTree>
    <p:extLst>
      <p:ext uri="{BB962C8B-B14F-4D97-AF65-F5344CB8AC3E}">
        <p14:creationId xmlns:p14="http://schemas.microsoft.com/office/powerpoint/2010/main" val="147293025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2C7D3-0E80-4A7D-B4D2-54B09512B081}"/>
              </a:ext>
            </a:extLst>
          </p:cNvPr>
          <p:cNvSpPr>
            <a:spLocks noGrp="1"/>
          </p:cNvSpPr>
          <p:nvPr>
            <p:ph type="ctrTitle"/>
          </p:nvPr>
        </p:nvSpPr>
        <p:spPr>
          <a:xfrm>
            <a:off x="2647950" y="1122363"/>
            <a:ext cx="8020050" cy="2387600"/>
          </a:xfrm>
        </p:spPr>
        <p:txBody>
          <a:bodyPr anchor="b"/>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F14CF09E-96DF-4211-B232-6EE7484F48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89DBC3-3FD9-481C-9A07-182E62F0D327}"/>
              </a:ext>
            </a:extLst>
          </p:cNvPr>
          <p:cNvSpPr>
            <a:spLocks noGrp="1"/>
          </p:cNvSpPr>
          <p:nvPr>
            <p:ph type="dt" sz="half" idx="10"/>
          </p:nvPr>
        </p:nvSpPr>
        <p:spPr/>
        <p:txBody>
          <a:bodyPr/>
          <a:lstStyle/>
          <a:p>
            <a:fld id="{975C4FDC-FFAC-411B-A1A0-7BE142BB0CA9}" type="datetime1">
              <a:rPr lang="en-US" smtClean="0"/>
              <a:t>1/15/2026</a:t>
            </a:fld>
            <a:endParaRPr lang="en-US"/>
          </a:p>
        </p:txBody>
      </p:sp>
      <p:sp>
        <p:nvSpPr>
          <p:cNvPr id="5" name="Footer Placeholder 4">
            <a:extLst>
              <a:ext uri="{FF2B5EF4-FFF2-40B4-BE49-F238E27FC236}">
                <a16:creationId xmlns:a16="http://schemas.microsoft.com/office/drawing/2014/main" id="{B1EE7EF2-5F50-49DF-A522-9498E672B6DA}"/>
              </a:ext>
            </a:extLst>
          </p:cNvPr>
          <p:cNvSpPr>
            <a:spLocks noGrp="1"/>
          </p:cNvSpPr>
          <p:nvPr>
            <p:ph type="ftr" sz="quarter" idx="11"/>
          </p:nvPr>
        </p:nvSpPr>
        <p:spPr/>
        <p:txBody>
          <a:bodyPr/>
          <a:lstStyle/>
          <a:p>
            <a:r>
              <a:rPr lang="en-US"/>
              <a:t>© 2022 by the Casualty Actuarial Society. All rights reserved.</a:t>
            </a:r>
          </a:p>
        </p:txBody>
      </p:sp>
      <p:sp>
        <p:nvSpPr>
          <p:cNvPr id="6" name="Slide Number Placeholder 5">
            <a:extLst>
              <a:ext uri="{FF2B5EF4-FFF2-40B4-BE49-F238E27FC236}">
                <a16:creationId xmlns:a16="http://schemas.microsoft.com/office/drawing/2014/main" id="{98C63ED7-5CE8-4FE1-99ED-02C1FDB49D5F}"/>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8" name="Oval 7">
            <a:extLst>
              <a:ext uri="{FF2B5EF4-FFF2-40B4-BE49-F238E27FC236}">
                <a16:creationId xmlns:a16="http://schemas.microsoft.com/office/drawing/2014/main" id="{B925D06A-16DA-4B21-B3BE-BF0C11C7F231}"/>
              </a:ext>
            </a:extLst>
          </p:cNvPr>
          <p:cNvSpPr/>
          <p:nvPr userDrawn="1"/>
        </p:nvSpPr>
        <p:spPr>
          <a:xfrm>
            <a:off x="1524000" y="1835150"/>
            <a:ext cx="619125" cy="619125"/>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351737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B3A4C-E3BE-41C6-8BFF-3C764B29B697}"/>
              </a:ext>
            </a:extLst>
          </p:cNvPr>
          <p:cNvSpPr>
            <a:spLocks noGrp="1"/>
          </p:cNvSpPr>
          <p:nvPr>
            <p:ph type="title"/>
          </p:nvPr>
        </p:nvSpPr>
        <p:spPr>
          <a:xfrm>
            <a:off x="1704974" y="317500"/>
            <a:ext cx="9648825"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FCAC0BB-CDAF-477F-8DE7-0D7965943D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FD61E-CC5B-46AF-A15B-52EDE9AE56F9}"/>
              </a:ext>
            </a:extLst>
          </p:cNvPr>
          <p:cNvSpPr>
            <a:spLocks noGrp="1"/>
          </p:cNvSpPr>
          <p:nvPr>
            <p:ph type="dt" sz="half" idx="10"/>
          </p:nvPr>
        </p:nvSpPr>
        <p:spPr/>
        <p:txBody>
          <a:bodyPr/>
          <a:lstStyle/>
          <a:p>
            <a:fld id="{3F1671C0-DB65-437E-B527-14C3DC1749B6}" type="datetime1">
              <a:rPr lang="en-US" smtClean="0"/>
              <a:t>1/15/2026</a:t>
            </a:fld>
            <a:endParaRPr lang="en-US"/>
          </a:p>
        </p:txBody>
      </p:sp>
      <p:sp>
        <p:nvSpPr>
          <p:cNvPr id="5" name="Footer Placeholder 4">
            <a:extLst>
              <a:ext uri="{FF2B5EF4-FFF2-40B4-BE49-F238E27FC236}">
                <a16:creationId xmlns:a16="http://schemas.microsoft.com/office/drawing/2014/main" id="{74E41F8F-88CA-42D3-801B-FD2F956BF0F9}"/>
              </a:ext>
            </a:extLst>
          </p:cNvPr>
          <p:cNvSpPr>
            <a:spLocks noGrp="1"/>
          </p:cNvSpPr>
          <p:nvPr>
            <p:ph type="ftr" sz="quarter" idx="11"/>
          </p:nvPr>
        </p:nvSpPr>
        <p:spPr/>
        <p:txBody>
          <a:bodyPr/>
          <a:lstStyle/>
          <a:p>
            <a:r>
              <a:rPr lang="en-US"/>
              <a:t>© 2022 by the Casualty Actuarial Society. All rights reserved.</a:t>
            </a:r>
          </a:p>
        </p:txBody>
      </p:sp>
      <p:sp>
        <p:nvSpPr>
          <p:cNvPr id="6" name="Slide Number Placeholder 5">
            <a:extLst>
              <a:ext uri="{FF2B5EF4-FFF2-40B4-BE49-F238E27FC236}">
                <a16:creationId xmlns:a16="http://schemas.microsoft.com/office/drawing/2014/main" id="{7AAB1522-7985-4F9E-8090-5DFB7422F586}"/>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7" name="Oval 6">
            <a:extLst>
              <a:ext uri="{FF2B5EF4-FFF2-40B4-BE49-F238E27FC236}">
                <a16:creationId xmlns:a16="http://schemas.microsoft.com/office/drawing/2014/main" id="{738EA6AE-460A-49D8-86F3-5F918714A1D9}"/>
              </a:ext>
            </a:extLst>
          </p:cNvPr>
          <p:cNvSpPr/>
          <p:nvPr userDrawn="1"/>
        </p:nvSpPr>
        <p:spPr>
          <a:xfrm>
            <a:off x="842962" y="681037"/>
            <a:ext cx="481013" cy="481013"/>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CBB6ED9-CD49-4E86-AECD-D9DCB58F210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29968161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045F8-77A1-48B7-A7CB-F751675D083D}"/>
              </a:ext>
            </a:extLst>
          </p:cNvPr>
          <p:cNvSpPr>
            <a:spLocks noGrp="1"/>
          </p:cNvSpPr>
          <p:nvPr>
            <p:ph type="title"/>
          </p:nvPr>
        </p:nvSpPr>
        <p:spPr>
          <a:xfrm>
            <a:off x="1943100" y="1709738"/>
            <a:ext cx="940435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E5762E-010B-4AD8-A2AC-32B91ED3AD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CE5B8E-2390-4DE0-B8A5-A2D0D4ED611D}"/>
              </a:ext>
            </a:extLst>
          </p:cNvPr>
          <p:cNvSpPr>
            <a:spLocks noGrp="1"/>
          </p:cNvSpPr>
          <p:nvPr>
            <p:ph type="dt" sz="half" idx="10"/>
          </p:nvPr>
        </p:nvSpPr>
        <p:spPr/>
        <p:txBody>
          <a:bodyPr/>
          <a:lstStyle/>
          <a:p>
            <a:fld id="{1BDDEFFD-81D7-4FC3-8700-3B6DBA66601B}" type="datetime1">
              <a:rPr lang="en-US" smtClean="0"/>
              <a:t>1/15/2026</a:t>
            </a:fld>
            <a:endParaRPr lang="en-US"/>
          </a:p>
        </p:txBody>
      </p:sp>
      <p:sp>
        <p:nvSpPr>
          <p:cNvPr id="5" name="Footer Placeholder 4">
            <a:extLst>
              <a:ext uri="{FF2B5EF4-FFF2-40B4-BE49-F238E27FC236}">
                <a16:creationId xmlns:a16="http://schemas.microsoft.com/office/drawing/2014/main" id="{D5CAEF27-6E25-407A-937E-79039761A17F}"/>
              </a:ext>
            </a:extLst>
          </p:cNvPr>
          <p:cNvSpPr>
            <a:spLocks noGrp="1"/>
          </p:cNvSpPr>
          <p:nvPr>
            <p:ph type="ftr" sz="quarter" idx="11"/>
          </p:nvPr>
        </p:nvSpPr>
        <p:spPr/>
        <p:txBody>
          <a:bodyPr/>
          <a:lstStyle/>
          <a:p>
            <a:r>
              <a:rPr lang="en-US"/>
              <a:t>© 2022 by the Casualty Actuarial Society. All rights reserved.</a:t>
            </a:r>
          </a:p>
        </p:txBody>
      </p:sp>
      <p:sp>
        <p:nvSpPr>
          <p:cNvPr id="6" name="Slide Number Placeholder 5">
            <a:extLst>
              <a:ext uri="{FF2B5EF4-FFF2-40B4-BE49-F238E27FC236}">
                <a16:creationId xmlns:a16="http://schemas.microsoft.com/office/drawing/2014/main" id="{DBBCF4FC-FB3B-45AC-803E-489549126253}"/>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7" name="Oval 6">
            <a:extLst>
              <a:ext uri="{FF2B5EF4-FFF2-40B4-BE49-F238E27FC236}">
                <a16:creationId xmlns:a16="http://schemas.microsoft.com/office/drawing/2014/main" id="{D30316C1-78D0-4997-BB98-ADD3DFCA2650}"/>
              </a:ext>
            </a:extLst>
          </p:cNvPr>
          <p:cNvSpPr/>
          <p:nvPr userDrawn="1"/>
        </p:nvSpPr>
        <p:spPr>
          <a:xfrm>
            <a:off x="831850" y="2901950"/>
            <a:ext cx="619125" cy="619125"/>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475086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55BDE-4867-4A95-B1AE-2A2B93F1A48C}"/>
              </a:ext>
            </a:extLst>
          </p:cNvPr>
          <p:cNvSpPr>
            <a:spLocks noGrp="1"/>
          </p:cNvSpPr>
          <p:nvPr>
            <p:ph type="title"/>
          </p:nvPr>
        </p:nvSpPr>
        <p:spPr>
          <a:xfrm>
            <a:off x="1704974" y="317500"/>
            <a:ext cx="9648825"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6831D58-312C-4117-A1D0-EFCC7E879A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CDC6BE-4A9D-461E-BEBE-842D63CF1B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B71A06-59DD-4B65-8223-506453871866}"/>
              </a:ext>
            </a:extLst>
          </p:cNvPr>
          <p:cNvSpPr>
            <a:spLocks noGrp="1"/>
          </p:cNvSpPr>
          <p:nvPr>
            <p:ph type="dt" sz="half" idx="10"/>
          </p:nvPr>
        </p:nvSpPr>
        <p:spPr/>
        <p:txBody>
          <a:bodyPr/>
          <a:lstStyle/>
          <a:p>
            <a:fld id="{44B86DA8-4616-4DE3-BCB8-2FC473FA0A48}" type="datetime1">
              <a:rPr lang="en-US" smtClean="0"/>
              <a:t>1/15/2026</a:t>
            </a:fld>
            <a:endParaRPr lang="en-US"/>
          </a:p>
        </p:txBody>
      </p:sp>
      <p:sp>
        <p:nvSpPr>
          <p:cNvPr id="6" name="Footer Placeholder 5">
            <a:extLst>
              <a:ext uri="{FF2B5EF4-FFF2-40B4-BE49-F238E27FC236}">
                <a16:creationId xmlns:a16="http://schemas.microsoft.com/office/drawing/2014/main" id="{1104B966-0F5E-4EFD-9DC6-3D81574F98DF}"/>
              </a:ext>
            </a:extLst>
          </p:cNvPr>
          <p:cNvSpPr>
            <a:spLocks noGrp="1"/>
          </p:cNvSpPr>
          <p:nvPr>
            <p:ph type="ftr" sz="quarter" idx="11"/>
          </p:nvPr>
        </p:nvSpPr>
        <p:spPr/>
        <p:txBody>
          <a:bodyPr/>
          <a:lstStyle/>
          <a:p>
            <a:r>
              <a:rPr lang="en-US"/>
              <a:t>© 2022 by the Casualty Actuarial Society. All rights reserved.</a:t>
            </a:r>
          </a:p>
        </p:txBody>
      </p:sp>
      <p:sp>
        <p:nvSpPr>
          <p:cNvPr id="7" name="Slide Number Placeholder 6">
            <a:extLst>
              <a:ext uri="{FF2B5EF4-FFF2-40B4-BE49-F238E27FC236}">
                <a16:creationId xmlns:a16="http://schemas.microsoft.com/office/drawing/2014/main" id="{D545A29F-E92B-46E7-A920-0C7572FFC34E}"/>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8" name="Oval 7">
            <a:extLst>
              <a:ext uri="{FF2B5EF4-FFF2-40B4-BE49-F238E27FC236}">
                <a16:creationId xmlns:a16="http://schemas.microsoft.com/office/drawing/2014/main" id="{B8909AAF-D571-49D4-90D8-3A440E040C05}"/>
              </a:ext>
            </a:extLst>
          </p:cNvPr>
          <p:cNvSpPr/>
          <p:nvPr userDrawn="1"/>
        </p:nvSpPr>
        <p:spPr>
          <a:xfrm>
            <a:off x="842962" y="681037"/>
            <a:ext cx="481013" cy="481013"/>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FABAE4A-7CBE-44EF-A847-452DAA0EF2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288332701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1EF67-134B-4048-AD1D-E0631175BADB}"/>
              </a:ext>
            </a:extLst>
          </p:cNvPr>
          <p:cNvSpPr>
            <a:spLocks noGrp="1"/>
          </p:cNvSpPr>
          <p:nvPr>
            <p:ph type="title"/>
          </p:nvPr>
        </p:nvSpPr>
        <p:spPr>
          <a:xfrm>
            <a:off x="1695450" y="365125"/>
            <a:ext cx="9659938"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D26B0A-25AB-4AD6-B42E-640B587407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6403A4-A28A-475B-8FB1-897FFA513C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4B72C1-886A-46B6-90BE-49B6D75673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3D7DCB-0A09-4A45-851F-5AD4BF9473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3AA5FC-2A86-4AA6-87AD-CBB22CB3CC08}"/>
              </a:ext>
            </a:extLst>
          </p:cNvPr>
          <p:cNvSpPr>
            <a:spLocks noGrp="1"/>
          </p:cNvSpPr>
          <p:nvPr>
            <p:ph type="dt" sz="half" idx="10"/>
          </p:nvPr>
        </p:nvSpPr>
        <p:spPr/>
        <p:txBody>
          <a:bodyPr/>
          <a:lstStyle/>
          <a:p>
            <a:fld id="{D6DC7D2A-4D7C-47EA-B973-52C801896850}" type="datetime1">
              <a:rPr lang="en-US" smtClean="0"/>
              <a:t>1/15/2026</a:t>
            </a:fld>
            <a:endParaRPr lang="en-US"/>
          </a:p>
        </p:txBody>
      </p:sp>
      <p:sp>
        <p:nvSpPr>
          <p:cNvPr id="8" name="Footer Placeholder 7">
            <a:extLst>
              <a:ext uri="{FF2B5EF4-FFF2-40B4-BE49-F238E27FC236}">
                <a16:creationId xmlns:a16="http://schemas.microsoft.com/office/drawing/2014/main" id="{0BF957AD-BC0E-4D6D-B7BD-B0C3A7E99075}"/>
              </a:ext>
            </a:extLst>
          </p:cNvPr>
          <p:cNvSpPr>
            <a:spLocks noGrp="1"/>
          </p:cNvSpPr>
          <p:nvPr>
            <p:ph type="ftr" sz="quarter" idx="11"/>
          </p:nvPr>
        </p:nvSpPr>
        <p:spPr/>
        <p:txBody>
          <a:bodyPr/>
          <a:lstStyle/>
          <a:p>
            <a:r>
              <a:rPr lang="en-US"/>
              <a:t>© 2022 by the Casualty Actuarial Society. All rights reserved.</a:t>
            </a:r>
          </a:p>
        </p:txBody>
      </p:sp>
      <p:sp>
        <p:nvSpPr>
          <p:cNvPr id="9" name="Slide Number Placeholder 8">
            <a:extLst>
              <a:ext uri="{FF2B5EF4-FFF2-40B4-BE49-F238E27FC236}">
                <a16:creationId xmlns:a16="http://schemas.microsoft.com/office/drawing/2014/main" id="{FCB75172-110B-4246-89AC-533ECA1AF3CA}"/>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11" name="Oval 10">
            <a:extLst>
              <a:ext uri="{FF2B5EF4-FFF2-40B4-BE49-F238E27FC236}">
                <a16:creationId xmlns:a16="http://schemas.microsoft.com/office/drawing/2014/main" id="{13DA2C24-B7AD-4971-A68B-EC0716E5189F}"/>
              </a:ext>
            </a:extLst>
          </p:cNvPr>
          <p:cNvSpPr/>
          <p:nvPr userDrawn="1"/>
        </p:nvSpPr>
        <p:spPr>
          <a:xfrm>
            <a:off x="836612" y="744538"/>
            <a:ext cx="481013" cy="481013"/>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3758ECF0-B3EE-4391-8321-019A4FEB0A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209076238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D479E-B996-49E3-B70F-7062AD178550}"/>
              </a:ext>
            </a:extLst>
          </p:cNvPr>
          <p:cNvSpPr>
            <a:spLocks noGrp="1"/>
          </p:cNvSpPr>
          <p:nvPr>
            <p:ph type="title"/>
          </p:nvPr>
        </p:nvSpPr>
        <p:spPr>
          <a:xfrm>
            <a:off x="1695450" y="317500"/>
            <a:ext cx="965835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3510704B-C35E-43EA-AA41-EC50ADD5FFB8}"/>
              </a:ext>
            </a:extLst>
          </p:cNvPr>
          <p:cNvSpPr>
            <a:spLocks noGrp="1"/>
          </p:cNvSpPr>
          <p:nvPr>
            <p:ph type="dt" sz="half" idx="10"/>
          </p:nvPr>
        </p:nvSpPr>
        <p:spPr/>
        <p:txBody>
          <a:bodyPr/>
          <a:lstStyle/>
          <a:p>
            <a:fld id="{C236DC7F-9DBB-4256-9FCA-AF5C21907133}" type="datetime1">
              <a:rPr lang="en-US" smtClean="0"/>
              <a:t>1/15/2026</a:t>
            </a:fld>
            <a:endParaRPr lang="en-US"/>
          </a:p>
        </p:txBody>
      </p:sp>
      <p:sp>
        <p:nvSpPr>
          <p:cNvPr id="4" name="Footer Placeholder 3">
            <a:extLst>
              <a:ext uri="{FF2B5EF4-FFF2-40B4-BE49-F238E27FC236}">
                <a16:creationId xmlns:a16="http://schemas.microsoft.com/office/drawing/2014/main" id="{885F3918-136C-4656-8BF5-514D9657749F}"/>
              </a:ext>
            </a:extLst>
          </p:cNvPr>
          <p:cNvSpPr>
            <a:spLocks noGrp="1"/>
          </p:cNvSpPr>
          <p:nvPr>
            <p:ph type="ftr" sz="quarter" idx="11"/>
          </p:nvPr>
        </p:nvSpPr>
        <p:spPr/>
        <p:txBody>
          <a:bodyPr/>
          <a:lstStyle/>
          <a:p>
            <a:r>
              <a:rPr lang="en-US"/>
              <a:t>© 2022 by the Casualty Actuarial Society. All rights reserved.</a:t>
            </a:r>
          </a:p>
        </p:txBody>
      </p:sp>
      <p:sp>
        <p:nvSpPr>
          <p:cNvPr id="5" name="Slide Number Placeholder 4">
            <a:extLst>
              <a:ext uri="{FF2B5EF4-FFF2-40B4-BE49-F238E27FC236}">
                <a16:creationId xmlns:a16="http://schemas.microsoft.com/office/drawing/2014/main" id="{0EDBF4F7-5C39-4F8B-B12C-BBFF119D84B4}"/>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7" name="Oval 6">
            <a:extLst>
              <a:ext uri="{FF2B5EF4-FFF2-40B4-BE49-F238E27FC236}">
                <a16:creationId xmlns:a16="http://schemas.microsoft.com/office/drawing/2014/main" id="{E303BCE3-5A3A-4BFA-B1DD-CA1085ECEC30}"/>
              </a:ext>
            </a:extLst>
          </p:cNvPr>
          <p:cNvSpPr/>
          <p:nvPr userDrawn="1"/>
        </p:nvSpPr>
        <p:spPr>
          <a:xfrm>
            <a:off x="836612" y="696913"/>
            <a:ext cx="481013" cy="481013"/>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A3CD60B-AEA1-49CA-87C4-1CEA3D01C6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143210253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1E628-85CD-4F2D-B7C0-CA91BCFAF966}"/>
              </a:ext>
            </a:extLst>
          </p:cNvPr>
          <p:cNvSpPr>
            <a:spLocks noGrp="1"/>
          </p:cNvSpPr>
          <p:nvPr>
            <p:ph type="dt" sz="half" idx="10"/>
          </p:nvPr>
        </p:nvSpPr>
        <p:spPr/>
        <p:txBody>
          <a:bodyPr/>
          <a:lstStyle/>
          <a:p>
            <a:fld id="{4777A3C8-4E61-4FE1-9B90-A7829C27C057}" type="datetime1">
              <a:rPr lang="en-US" smtClean="0"/>
              <a:t>1/15/2026</a:t>
            </a:fld>
            <a:endParaRPr lang="en-US"/>
          </a:p>
        </p:txBody>
      </p:sp>
      <p:sp>
        <p:nvSpPr>
          <p:cNvPr id="3" name="Footer Placeholder 2">
            <a:extLst>
              <a:ext uri="{FF2B5EF4-FFF2-40B4-BE49-F238E27FC236}">
                <a16:creationId xmlns:a16="http://schemas.microsoft.com/office/drawing/2014/main" id="{DE5A55A3-4CDF-4C8D-AD58-44649DC19502}"/>
              </a:ext>
            </a:extLst>
          </p:cNvPr>
          <p:cNvSpPr>
            <a:spLocks noGrp="1"/>
          </p:cNvSpPr>
          <p:nvPr>
            <p:ph type="ftr" sz="quarter" idx="11"/>
          </p:nvPr>
        </p:nvSpPr>
        <p:spPr/>
        <p:txBody>
          <a:bodyPr/>
          <a:lstStyle/>
          <a:p>
            <a:r>
              <a:rPr lang="en-US"/>
              <a:t>© 2022 by the Casualty Actuarial Society. All rights reserved.</a:t>
            </a:r>
          </a:p>
        </p:txBody>
      </p:sp>
      <p:sp>
        <p:nvSpPr>
          <p:cNvPr id="4" name="Slide Number Placeholder 3">
            <a:extLst>
              <a:ext uri="{FF2B5EF4-FFF2-40B4-BE49-F238E27FC236}">
                <a16:creationId xmlns:a16="http://schemas.microsoft.com/office/drawing/2014/main" id="{BCAB45DE-2688-402D-BBA5-EC5D9EBB56A6}"/>
              </a:ext>
            </a:extLst>
          </p:cNvPr>
          <p:cNvSpPr>
            <a:spLocks noGrp="1"/>
          </p:cNvSpPr>
          <p:nvPr>
            <p:ph type="sldNum" sz="quarter" idx="12"/>
          </p:nvPr>
        </p:nvSpPr>
        <p:spPr/>
        <p:txBody>
          <a:bodyPr/>
          <a:lstStyle/>
          <a:p>
            <a:fld id="{D8739219-3C6B-44F9-8CFD-C30B3EB7D220}" type="slidenum">
              <a:rPr lang="en-US" smtClean="0"/>
              <a:t>‹#›</a:t>
            </a:fld>
            <a:endParaRPr lang="en-US"/>
          </a:p>
        </p:txBody>
      </p:sp>
    </p:spTree>
    <p:extLst>
      <p:ext uri="{BB962C8B-B14F-4D97-AF65-F5344CB8AC3E}">
        <p14:creationId xmlns:p14="http://schemas.microsoft.com/office/powerpoint/2010/main" val="13779156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1E6EE-0C36-48EB-93F0-DFDCC191A806}"/>
              </a:ext>
            </a:extLst>
          </p:cNvPr>
          <p:cNvSpPr>
            <a:spLocks noGrp="1"/>
          </p:cNvSpPr>
          <p:nvPr>
            <p:ph type="title"/>
          </p:nvPr>
        </p:nvSpPr>
        <p:spPr>
          <a:xfrm>
            <a:off x="1371600" y="457200"/>
            <a:ext cx="340042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1E369E-3F97-45B2-93B2-AA547AEEA1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C3BD39-2256-4F50-892A-C163D81F59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DA559E-BA67-4DB8-A376-BA2787A7FA3A}"/>
              </a:ext>
            </a:extLst>
          </p:cNvPr>
          <p:cNvSpPr>
            <a:spLocks noGrp="1"/>
          </p:cNvSpPr>
          <p:nvPr>
            <p:ph type="dt" sz="half" idx="10"/>
          </p:nvPr>
        </p:nvSpPr>
        <p:spPr/>
        <p:txBody>
          <a:bodyPr/>
          <a:lstStyle/>
          <a:p>
            <a:fld id="{41270C7D-75B7-4A52-BA77-7377658788E5}" type="datetime1">
              <a:rPr lang="en-US" smtClean="0"/>
              <a:t>1/15/2026</a:t>
            </a:fld>
            <a:endParaRPr lang="en-US"/>
          </a:p>
        </p:txBody>
      </p:sp>
      <p:sp>
        <p:nvSpPr>
          <p:cNvPr id="6" name="Footer Placeholder 5">
            <a:extLst>
              <a:ext uri="{FF2B5EF4-FFF2-40B4-BE49-F238E27FC236}">
                <a16:creationId xmlns:a16="http://schemas.microsoft.com/office/drawing/2014/main" id="{CFF7FE14-1A6C-4073-9B4D-409CAAAAD6EB}"/>
              </a:ext>
            </a:extLst>
          </p:cNvPr>
          <p:cNvSpPr>
            <a:spLocks noGrp="1"/>
          </p:cNvSpPr>
          <p:nvPr>
            <p:ph type="ftr" sz="quarter" idx="11"/>
          </p:nvPr>
        </p:nvSpPr>
        <p:spPr/>
        <p:txBody>
          <a:bodyPr/>
          <a:lstStyle/>
          <a:p>
            <a:r>
              <a:rPr lang="en-US"/>
              <a:t>© 2022 by the Casualty Actuarial Society. All rights reserved.</a:t>
            </a:r>
          </a:p>
        </p:txBody>
      </p:sp>
      <p:sp>
        <p:nvSpPr>
          <p:cNvPr id="7" name="Slide Number Placeholder 6">
            <a:extLst>
              <a:ext uri="{FF2B5EF4-FFF2-40B4-BE49-F238E27FC236}">
                <a16:creationId xmlns:a16="http://schemas.microsoft.com/office/drawing/2014/main" id="{5A88BF30-47A5-48C2-A99D-E573853A5EFB}"/>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8" name="Oval 7">
            <a:extLst>
              <a:ext uri="{FF2B5EF4-FFF2-40B4-BE49-F238E27FC236}">
                <a16:creationId xmlns:a16="http://schemas.microsoft.com/office/drawing/2014/main" id="{965A2820-F565-411A-8C73-4AE9F5AFAEF2}"/>
              </a:ext>
            </a:extLst>
          </p:cNvPr>
          <p:cNvSpPr/>
          <p:nvPr userDrawn="1"/>
        </p:nvSpPr>
        <p:spPr>
          <a:xfrm>
            <a:off x="836612" y="711017"/>
            <a:ext cx="327025" cy="327025"/>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5CBB37B-AA31-42A1-A401-3B7AEB04443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205871927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A7984-9C94-4802-B270-B3AB4535BAB0}"/>
              </a:ext>
            </a:extLst>
          </p:cNvPr>
          <p:cNvSpPr>
            <a:spLocks noGrp="1"/>
          </p:cNvSpPr>
          <p:nvPr>
            <p:ph type="title"/>
          </p:nvPr>
        </p:nvSpPr>
        <p:spPr>
          <a:xfrm>
            <a:off x="1387549" y="457200"/>
            <a:ext cx="3384476"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B32777D-148B-43B3-AA4A-53BF6E65D6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C63876-FDB8-4B73-95F8-144076349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2F5DEF-406E-4E54-8F52-697792408F2B}"/>
              </a:ext>
            </a:extLst>
          </p:cNvPr>
          <p:cNvSpPr>
            <a:spLocks noGrp="1"/>
          </p:cNvSpPr>
          <p:nvPr>
            <p:ph type="dt" sz="half" idx="10"/>
          </p:nvPr>
        </p:nvSpPr>
        <p:spPr/>
        <p:txBody>
          <a:bodyPr/>
          <a:lstStyle/>
          <a:p>
            <a:fld id="{7E340137-8477-4D96-BCBF-5495B1FB70F6}" type="datetime1">
              <a:rPr lang="en-US" smtClean="0"/>
              <a:t>1/15/2026</a:t>
            </a:fld>
            <a:endParaRPr lang="en-US"/>
          </a:p>
        </p:txBody>
      </p:sp>
      <p:sp>
        <p:nvSpPr>
          <p:cNvPr id="6" name="Footer Placeholder 5">
            <a:extLst>
              <a:ext uri="{FF2B5EF4-FFF2-40B4-BE49-F238E27FC236}">
                <a16:creationId xmlns:a16="http://schemas.microsoft.com/office/drawing/2014/main" id="{7B1CDD1E-826F-4685-AD1D-C5BCE848AFFA}"/>
              </a:ext>
            </a:extLst>
          </p:cNvPr>
          <p:cNvSpPr>
            <a:spLocks noGrp="1"/>
          </p:cNvSpPr>
          <p:nvPr>
            <p:ph type="ftr" sz="quarter" idx="11"/>
          </p:nvPr>
        </p:nvSpPr>
        <p:spPr/>
        <p:txBody>
          <a:bodyPr/>
          <a:lstStyle/>
          <a:p>
            <a:r>
              <a:rPr lang="en-US"/>
              <a:t>© 2022 by the Casualty Actuarial Society. All rights reserved.</a:t>
            </a:r>
          </a:p>
        </p:txBody>
      </p:sp>
      <p:sp>
        <p:nvSpPr>
          <p:cNvPr id="7" name="Slide Number Placeholder 6">
            <a:extLst>
              <a:ext uri="{FF2B5EF4-FFF2-40B4-BE49-F238E27FC236}">
                <a16:creationId xmlns:a16="http://schemas.microsoft.com/office/drawing/2014/main" id="{047D5791-D551-4963-BC60-DBE0E95725B8}"/>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9" name="Oval 8">
            <a:extLst>
              <a:ext uri="{FF2B5EF4-FFF2-40B4-BE49-F238E27FC236}">
                <a16:creationId xmlns:a16="http://schemas.microsoft.com/office/drawing/2014/main" id="{B7E0D67D-0D8E-42B5-A22E-AFD1AEC53EA9}"/>
              </a:ext>
            </a:extLst>
          </p:cNvPr>
          <p:cNvSpPr/>
          <p:nvPr userDrawn="1"/>
        </p:nvSpPr>
        <p:spPr>
          <a:xfrm>
            <a:off x="836612" y="711017"/>
            <a:ext cx="327025" cy="327025"/>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7C728AE2-4EDE-403A-B28C-E02667C49D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88063884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29D29-BDC1-48EC-B965-C27320AFA145}"/>
              </a:ext>
            </a:extLst>
          </p:cNvPr>
          <p:cNvSpPr>
            <a:spLocks noGrp="1"/>
          </p:cNvSpPr>
          <p:nvPr>
            <p:ph type="title"/>
          </p:nvPr>
        </p:nvSpPr>
        <p:spPr>
          <a:xfrm>
            <a:off x="1695450" y="317500"/>
            <a:ext cx="9658350" cy="1325563"/>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169FB0-2E42-45BC-9466-D94954F452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79A241-3FA8-46D9-A2FC-4C98229F793C}"/>
              </a:ext>
            </a:extLst>
          </p:cNvPr>
          <p:cNvSpPr>
            <a:spLocks noGrp="1"/>
          </p:cNvSpPr>
          <p:nvPr>
            <p:ph type="dt" sz="half" idx="10"/>
          </p:nvPr>
        </p:nvSpPr>
        <p:spPr/>
        <p:txBody>
          <a:bodyPr/>
          <a:lstStyle/>
          <a:p>
            <a:fld id="{5AD54863-6AD4-4BF7-96F4-A9BA22FF5510}" type="datetime1">
              <a:rPr lang="en-US" smtClean="0"/>
              <a:t>1/15/2026</a:t>
            </a:fld>
            <a:endParaRPr lang="en-US"/>
          </a:p>
        </p:txBody>
      </p:sp>
      <p:sp>
        <p:nvSpPr>
          <p:cNvPr id="5" name="Footer Placeholder 4">
            <a:extLst>
              <a:ext uri="{FF2B5EF4-FFF2-40B4-BE49-F238E27FC236}">
                <a16:creationId xmlns:a16="http://schemas.microsoft.com/office/drawing/2014/main" id="{20FC1CA5-EC90-47AD-AA83-5A2AA40BBB10}"/>
              </a:ext>
            </a:extLst>
          </p:cNvPr>
          <p:cNvSpPr>
            <a:spLocks noGrp="1"/>
          </p:cNvSpPr>
          <p:nvPr>
            <p:ph type="ftr" sz="quarter" idx="11"/>
          </p:nvPr>
        </p:nvSpPr>
        <p:spPr/>
        <p:txBody>
          <a:bodyPr/>
          <a:lstStyle/>
          <a:p>
            <a:r>
              <a:rPr lang="en-US"/>
              <a:t>© 2022 by the Casualty Actuarial Society. All rights reserved.</a:t>
            </a:r>
          </a:p>
        </p:txBody>
      </p:sp>
      <p:sp>
        <p:nvSpPr>
          <p:cNvPr id="6" name="Slide Number Placeholder 5">
            <a:extLst>
              <a:ext uri="{FF2B5EF4-FFF2-40B4-BE49-F238E27FC236}">
                <a16:creationId xmlns:a16="http://schemas.microsoft.com/office/drawing/2014/main" id="{809CB3F4-50AF-4AED-953F-053CBBCDFBCB}"/>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7" name="Oval 6">
            <a:extLst>
              <a:ext uri="{FF2B5EF4-FFF2-40B4-BE49-F238E27FC236}">
                <a16:creationId xmlns:a16="http://schemas.microsoft.com/office/drawing/2014/main" id="{F38233ED-DFD9-424D-A8D4-5BD68693CE36}"/>
              </a:ext>
            </a:extLst>
          </p:cNvPr>
          <p:cNvSpPr/>
          <p:nvPr userDrawn="1"/>
        </p:nvSpPr>
        <p:spPr>
          <a:xfrm>
            <a:off x="836612" y="696913"/>
            <a:ext cx="481013" cy="481013"/>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F6E596F-CD3C-4B9B-9645-1FE28F9BD20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387434031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AEC63-00B7-4CA2-83AC-090F9723B7C3}"/>
              </a:ext>
            </a:extLst>
          </p:cNvPr>
          <p:cNvSpPr>
            <a:spLocks noGrp="1"/>
          </p:cNvSpPr>
          <p:nvPr>
            <p:ph type="title" orient="vert"/>
          </p:nvPr>
        </p:nvSpPr>
        <p:spPr>
          <a:xfrm>
            <a:off x="8724900" y="1247775"/>
            <a:ext cx="2628900" cy="492918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DE54F5-11CE-441E-8369-0406BF602E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92F9A0-8D9F-477D-B30B-B66E248329C2}"/>
              </a:ext>
            </a:extLst>
          </p:cNvPr>
          <p:cNvSpPr>
            <a:spLocks noGrp="1"/>
          </p:cNvSpPr>
          <p:nvPr>
            <p:ph type="dt" sz="half" idx="10"/>
          </p:nvPr>
        </p:nvSpPr>
        <p:spPr/>
        <p:txBody>
          <a:bodyPr/>
          <a:lstStyle/>
          <a:p>
            <a:fld id="{17CEE5D4-D63C-438A-ADC4-7C3D891BA14C}" type="datetime1">
              <a:rPr lang="en-US" smtClean="0"/>
              <a:t>1/15/2026</a:t>
            </a:fld>
            <a:endParaRPr lang="en-US"/>
          </a:p>
        </p:txBody>
      </p:sp>
      <p:sp>
        <p:nvSpPr>
          <p:cNvPr id="5" name="Footer Placeholder 4">
            <a:extLst>
              <a:ext uri="{FF2B5EF4-FFF2-40B4-BE49-F238E27FC236}">
                <a16:creationId xmlns:a16="http://schemas.microsoft.com/office/drawing/2014/main" id="{D2043A4F-7C6F-4A9E-9E54-5A6C0358DDA6}"/>
              </a:ext>
            </a:extLst>
          </p:cNvPr>
          <p:cNvSpPr>
            <a:spLocks noGrp="1"/>
          </p:cNvSpPr>
          <p:nvPr>
            <p:ph type="ftr" sz="quarter" idx="11"/>
          </p:nvPr>
        </p:nvSpPr>
        <p:spPr/>
        <p:txBody>
          <a:bodyPr/>
          <a:lstStyle/>
          <a:p>
            <a:r>
              <a:rPr lang="en-US"/>
              <a:t>© 2022 by the Casualty Actuarial Society. All rights reserved.</a:t>
            </a:r>
          </a:p>
        </p:txBody>
      </p:sp>
      <p:sp>
        <p:nvSpPr>
          <p:cNvPr id="6" name="Slide Number Placeholder 5">
            <a:extLst>
              <a:ext uri="{FF2B5EF4-FFF2-40B4-BE49-F238E27FC236}">
                <a16:creationId xmlns:a16="http://schemas.microsoft.com/office/drawing/2014/main" id="{C2F1AFCF-7AF1-4BAB-AEEF-7D6C4F249F65}"/>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7" name="Oval 6">
            <a:extLst>
              <a:ext uri="{FF2B5EF4-FFF2-40B4-BE49-F238E27FC236}">
                <a16:creationId xmlns:a16="http://schemas.microsoft.com/office/drawing/2014/main" id="{1F804816-2058-4E56-B13C-35B6ABDD4E17}"/>
              </a:ext>
            </a:extLst>
          </p:cNvPr>
          <p:cNvSpPr/>
          <p:nvPr userDrawn="1"/>
        </p:nvSpPr>
        <p:spPr>
          <a:xfrm rot="5400000">
            <a:off x="10123487" y="365125"/>
            <a:ext cx="481013" cy="481013"/>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4375B30-A0D7-4C0B-BF59-270E265EDF5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381000" y="5513462"/>
            <a:ext cx="1040784" cy="1040784"/>
          </a:xfrm>
          <a:prstGeom prst="rect">
            <a:avLst/>
          </a:prstGeom>
        </p:spPr>
      </p:pic>
    </p:spTree>
    <p:extLst>
      <p:ext uri="{BB962C8B-B14F-4D97-AF65-F5344CB8AC3E}">
        <p14:creationId xmlns:p14="http://schemas.microsoft.com/office/powerpoint/2010/main" val="63336556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2C7D3-0E80-4A7D-B4D2-54B09512B081}"/>
              </a:ext>
            </a:extLst>
          </p:cNvPr>
          <p:cNvSpPr>
            <a:spLocks noGrp="1"/>
          </p:cNvSpPr>
          <p:nvPr>
            <p:ph type="ctrTitle"/>
          </p:nvPr>
        </p:nvSpPr>
        <p:spPr>
          <a:xfrm>
            <a:off x="2647950" y="1122363"/>
            <a:ext cx="8020050" cy="2387600"/>
          </a:xfrm>
        </p:spPr>
        <p:txBody>
          <a:bodyPr anchor="b"/>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F14CF09E-96DF-4211-B232-6EE7484F480A}"/>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89DBC3-3FD9-481C-9A07-182E62F0D327}"/>
              </a:ext>
            </a:extLst>
          </p:cNvPr>
          <p:cNvSpPr>
            <a:spLocks noGrp="1"/>
          </p:cNvSpPr>
          <p:nvPr>
            <p:ph type="dt" sz="half" idx="10"/>
          </p:nvPr>
        </p:nvSpPr>
        <p:spPr/>
        <p:txBody>
          <a:bodyPr/>
          <a:lstStyle/>
          <a:p>
            <a:fld id="{D700E244-28E1-4F46-86DF-84BC36ED4C63}" type="datetime1">
              <a:rPr lang="en-US" smtClean="0"/>
              <a:t>1/15/2026</a:t>
            </a:fld>
            <a:endParaRPr lang="en-US"/>
          </a:p>
        </p:txBody>
      </p:sp>
      <p:sp>
        <p:nvSpPr>
          <p:cNvPr id="5" name="Footer Placeholder 4">
            <a:extLst>
              <a:ext uri="{FF2B5EF4-FFF2-40B4-BE49-F238E27FC236}">
                <a16:creationId xmlns:a16="http://schemas.microsoft.com/office/drawing/2014/main" id="{B1EE7EF2-5F50-49DF-A522-9498E672B6DA}"/>
              </a:ext>
            </a:extLst>
          </p:cNvPr>
          <p:cNvSpPr>
            <a:spLocks noGrp="1"/>
          </p:cNvSpPr>
          <p:nvPr>
            <p:ph type="ftr" sz="quarter" idx="11"/>
          </p:nvPr>
        </p:nvSpPr>
        <p:spPr/>
        <p:txBody>
          <a:bodyPr/>
          <a:lstStyle/>
          <a:p>
            <a:r>
              <a:rPr lang="en-US"/>
              <a:t>© 2022 by the Casualty Actuarial Society. All rights reserved.</a:t>
            </a:r>
          </a:p>
        </p:txBody>
      </p:sp>
      <p:sp>
        <p:nvSpPr>
          <p:cNvPr id="6" name="Slide Number Placeholder 5">
            <a:extLst>
              <a:ext uri="{FF2B5EF4-FFF2-40B4-BE49-F238E27FC236}">
                <a16:creationId xmlns:a16="http://schemas.microsoft.com/office/drawing/2014/main" id="{98C63ED7-5CE8-4FE1-99ED-02C1FDB49D5F}"/>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8" name="Oval 7">
            <a:extLst>
              <a:ext uri="{FF2B5EF4-FFF2-40B4-BE49-F238E27FC236}">
                <a16:creationId xmlns:a16="http://schemas.microsoft.com/office/drawing/2014/main" id="{B925D06A-16DA-4B21-B3BE-BF0C11C7F231}"/>
              </a:ext>
            </a:extLst>
          </p:cNvPr>
          <p:cNvSpPr/>
          <p:nvPr userDrawn="1"/>
        </p:nvSpPr>
        <p:spPr>
          <a:xfrm>
            <a:off x="1524000" y="1835150"/>
            <a:ext cx="619125" cy="619125"/>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65130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B3A4C-E3BE-41C6-8BFF-3C764B29B697}"/>
              </a:ext>
            </a:extLst>
          </p:cNvPr>
          <p:cNvSpPr>
            <a:spLocks noGrp="1"/>
          </p:cNvSpPr>
          <p:nvPr>
            <p:ph type="title"/>
          </p:nvPr>
        </p:nvSpPr>
        <p:spPr>
          <a:xfrm>
            <a:off x="1704974" y="317500"/>
            <a:ext cx="9648825"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FCAC0BB-CDAF-477F-8DE7-0D7965943D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FD61E-CC5B-46AF-A15B-52EDE9AE56F9}"/>
              </a:ext>
            </a:extLst>
          </p:cNvPr>
          <p:cNvSpPr>
            <a:spLocks noGrp="1"/>
          </p:cNvSpPr>
          <p:nvPr>
            <p:ph type="dt" sz="half" idx="10"/>
          </p:nvPr>
        </p:nvSpPr>
        <p:spPr/>
        <p:txBody>
          <a:bodyPr/>
          <a:lstStyle/>
          <a:p>
            <a:fld id="{7DAD408E-D0E6-446D-9FCD-7CA8157BB47F}" type="datetime1">
              <a:rPr lang="en-US" smtClean="0"/>
              <a:t>1/15/2026</a:t>
            </a:fld>
            <a:endParaRPr lang="en-US"/>
          </a:p>
        </p:txBody>
      </p:sp>
      <p:sp>
        <p:nvSpPr>
          <p:cNvPr id="5" name="Footer Placeholder 4">
            <a:extLst>
              <a:ext uri="{FF2B5EF4-FFF2-40B4-BE49-F238E27FC236}">
                <a16:creationId xmlns:a16="http://schemas.microsoft.com/office/drawing/2014/main" id="{74E41F8F-88CA-42D3-801B-FD2F956BF0F9}"/>
              </a:ext>
            </a:extLst>
          </p:cNvPr>
          <p:cNvSpPr>
            <a:spLocks noGrp="1"/>
          </p:cNvSpPr>
          <p:nvPr>
            <p:ph type="ftr" sz="quarter" idx="11"/>
          </p:nvPr>
        </p:nvSpPr>
        <p:spPr/>
        <p:txBody>
          <a:bodyPr/>
          <a:lstStyle/>
          <a:p>
            <a:r>
              <a:rPr lang="en-US"/>
              <a:t>© 2022 by the Casualty Actuarial Society. All rights reserved.</a:t>
            </a:r>
          </a:p>
        </p:txBody>
      </p:sp>
      <p:sp>
        <p:nvSpPr>
          <p:cNvPr id="6" name="Slide Number Placeholder 5">
            <a:extLst>
              <a:ext uri="{FF2B5EF4-FFF2-40B4-BE49-F238E27FC236}">
                <a16:creationId xmlns:a16="http://schemas.microsoft.com/office/drawing/2014/main" id="{7AAB1522-7985-4F9E-8090-5DFB7422F586}"/>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7" name="Oval 6">
            <a:extLst>
              <a:ext uri="{FF2B5EF4-FFF2-40B4-BE49-F238E27FC236}">
                <a16:creationId xmlns:a16="http://schemas.microsoft.com/office/drawing/2014/main" id="{738EA6AE-460A-49D8-86F3-5F918714A1D9}"/>
              </a:ext>
            </a:extLst>
          </p:cNvPr>
          <p:cNvSpPr/>
          <p:nvPr userDrawn="1"/>
        </p:nvSpPr>
        <p:spPr>
          <a:xfrm>
            <a:off x="842962" y="681037"/>
            <a:ext cx="481013" cy="481013"/>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CBB6ED9-CD49-4E86-AECD-D9DCB58F210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404905989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045F8-77A1-48B7-A7CB-F751675D083D}"/>
              </a:ext>
            </a:extLst>
          </p:cNvPr>
          <p:cNvSpPr>
            <a:spLocks noGrp="1"/>
          </p:cNvSpPr>
          <p:nvPr>
            <p:ph type="title"/>
          </p:nvPr>
        </p:nvSpPr>
        <p:spPr>
          <a:xfrm>
            <a:off x="1943100" y="1709738"/>
            <a:ext cx="940435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E5762E-010B-4AD8-A2AC-32B91ED3AD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CE5B8E-2390-4DE0-B8A5-A2D0D4ED611D}"/>
              </a:ext>
            </a:extLst>
          </p:cNvPr>
          <p:cNvSpPr>
            <a:spLocks noGrp="1"/>
          </p:cNvSpPr>
          <p:nvPr>
            <p:ph type="dt" sz="half" idx="10"/>
          </p:nvPr>
        </p:nvSpPr>
        <p:spPr/>
        <p:txBody>
          <a:bodyPr/>
          <a:lstStyle/>
          <a:p>
            <a:fld id="{8F7B8253-D683-4E3F-9257-509D23DCE63D}" type="datetime1">
              <a:rPr lang="en-US" smtClean="0"/>
              <a:t>1/15/2026</a:t>
            </a:fld>
            <a:endParaRPr lang="en-US"/>
          </a:p>
        </p:txBody>
      </p:sp>
      <p:sp>
        <p:nvSpPr>
          <p:cNvPr id="5" name="Footer Placeholder 4">
            <a:extLst>
              <a:ext uri="{FF2B5EF4-FFF2-40B4-BE49-F238E27FC236}">
                <a16:creationId xmlns:a16="http://schemas.microsoft.com/office/drawing/2014/main" id="{D5CAEF27-6E25-407A-937E-79039761A17F}"/>
              </a:ext>
            </a:extLst>
          </p:cNvPr>
          <p:cNvSpPr>
            <a:spLocks noGrp="1"/>
          </p:cNvSpPr>
          <p:nvPr>
            <p:ph type="ftr" sz="quarter" idx="11"/>
          </p:nvPr>
        </p:nvSpPr>
        <p:spPr/>
        <p:txBody>
          <a:bodyPr/>
          <a:lstStyle/>
          <a:p>
            <a:r>
              <a:rPr lang="en-US"/>
              <a:t>© 2022 by the Casualty Actuarial Society. All rights reserved.</a:t>
            </a:r>
          </a:p>
        </p:txBody>
      </p:sp>
      <p:sp>
        <p:nvSpPr>
          <p:cNvPr id="6" name="Slide Number Placeholder 5">
            <a:extLst>
              <a:ext uri="{FF2B5EF4-FFF2-40B4-BE49-F238E27FC236}">
                <a16:creationId xmlns:a16="http://schemas.microsoft.com/office/drawing/2014/main" id="{DBBCF4FC-FB3B-45AC-803E-489549126253}"/>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7" name="Oval 6">
            <a:extLst>
              <a:ext uri="{FF2B5EF4-FFF2-40B4-BE49-F238E27FC236}">
                <a16:creationId xmlns:a16="http://schemas.microsoft.com/office/drawing/2014/main" id="{D30316C1-78D0-4997-BB98-ADD3DFCA2650}"/>
              </a:ext>
            </a:extLst>
          </p:cNvPr>
          <p:cNvSpPr/>
          <p:nvPr userDrawn="1"/>
        </p:nvSpPr>
        <p:spPr>
          <a:xfrm>
            <a:off x="831850" y="2901950"/>
            <a:ext cx="619125" cy="619125"/>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403418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55BDE-4867-4A95-B1AE-2A2B93F1A48C}"/>
              </a:ext>
            </a:extLst>
          </p:cNvPr>
          <p:cNvSpPr>
            <a:spLocks noGrp="1"/>
          </p:cNvSpPr>
          <p:nvPr>
            <p:ph type="title"/>
          </p:nvPr>
        </p:nvSpPr>
        <p:spPr>
          <a:xfrm>
            <a:off x="1704974" y="317500"/>
            <a:ext cx="9648825"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6831D58-312C-4117-A1D0-EFCC7E879A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CDC6BE-4A9D-461E-BEBE-842D63CF1B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B71A06-59DD-4B65-8223-506453871866}"/>
              </a:ext>
            </a:extLst>
          </p:cNvPr>
          <p:cNvSpPr>
            <a:spLocks noGrp="1"/>
          </p:cNvSpPr>
          <p:nvPr>
            <p:ph type="dt" sz="half" idx="10"/>
          </p:nvPr>
        </p:nvSpPr>
        <p:spPr/>
        <p:txBody>
          <a:bodyPr/>
          <a:lstStyle/>
          <a:p>
            <a:fld id="{48DDCE01-044B-4217-B640-C298D6711D51}" type="datetime1">
              <a:rPr lang="en-US" smtClean="0"/>
              <a:t>1/15/2026</a:t>
            </a:fld>
            <a:endParaRPr lang="en-US"/>
          </a:p>
        </p:txBody>
      </p:sp>
      <p:sp>
        <p:nvSpPr>
          <p:cNvPr id="6" name="Footer Placeholder 5">
            <a:extLst>
              <a:ext uri="{FF2B5EF4-FFF2-40B4-BE49-F238E27FC236}">
                <a16:creationId xmlns:a16="http://schemas.microsoft.com/office/drawing/2014/main" id="{1104B966-0F5E-4EFD-9DC6-3D81574F98DF}"/>
              </a:ext>
            </a:extLst>
          </p:cNvPr>
          <p:cNvSpPr>
            <a:spLocks noGrp="1"/>
          </p:cNvSpPr>
          <p:nvPr>
            <p:ph type="ftr" sz="quarter" idx="11"/>
          </p:nvPr>
        </p:nvSpPr>
        <p:spPr/>
        <p:txBody>
          <a:bodyPr/>
          <a:lstStyle/>
          <a:p>
            <a:r>
              <a:rPr lang="en-US"/>
              <a:t>© 2022 by the Casualty Actuarial Society. All rights reserved.</a:t>
            </a:r>
          </a:p>
        </p:txBody>
      </p:sp>
      <p:sp>
        <p:nvSpPr>
          <p:cNvPr id="7" name="Slide Number Placeholder 6">
            <a:extLst>
              <a:ext uri="{FF2B5EF4-FFF2-40B4-BE49-F238E27FC236}">
                <a16:creationId xmlns:a16="http://schemas.microsoft.com/office/drawing/2014/main" id="{D545A29F-E92B-46E7-A920-0C7572FFC34E}"/>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8" name="Oval 7">
            <a:extLst>
              <a:ext uri="{FF2B5EF4-FFF2-40B4-BE49-F238E27FC236}">
                <a16:creationId xmlns:a16="http://schemas.microsoft.com/office/drawing/2014/main" id="{B8909AAF-D571-49D4-90D8-3A440E040C05}"/>
              </a:ext>
            </a:extLst>
          </p:cNvPr>
          <p:cNvSpPr/>
          <p:nvPr userDrawn="1"/>
        </p:nvSpPr>
        <p:spPr>
          <a:xfrm>
            <a:off x="842962" y="681037"/>
            <a:ext cx="481013" cy="481013"/>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FABAE4A-7CBE-44EF-A847-452DAA0EF2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231334338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1EF67-134B-4048-AD1D-E0631175BADB}"/>
              </a:ext>
            </a:extLst>
          </p:cNvPr>
          <p:cNvSpPr>
            <a:spLocks noGrp="1"/>
          </p:cNvSpPr>
          <p:nvPr>
            <p:ph type="title"/>
          </p:nvPr>
        </p:nvSpPr>
        <p:spPr>
          <a:xfrm>
            <a:off x="1695450" y="365125"/>
            <a:ext cx="9659938"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D26B0A-25AB-4AD6-B42E-640B587407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6403A4-A28A-475B-8FB1-897FFA513C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4B72C1-886A-46B6-90BE-49B6D75673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3D7DCB-0A09-4A45-851F-5AD4BF9473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3AA5FC-2A86-4AA6-87AD-CBB22CB3CC08}"/>
              </a:ext>
            </a:extLst>
          </p:cNvPr>
          <p:cNvSpPr>
            <a:spLocks noGrp="1"/>
          </p:cNvSpPr>
          <p:nvPr>
            <p:ph type="dt" sz="half" idx="10"/>
          </p:nvPr>
        </p:nvSpPr>
        <p:spPr/>
        <p:txBody>
          <a:bodyPr/>
          <a:lstStyle/>
          <a:p>
            <a:fld id="{8CFDBD79-0AEA-4DC5-97F6-C3B133914EB8}" type="datetime1">
              <a:rPr lang="en-US" smtClean="0"/>
              <a:t>1/15/2026</a:t>
            </a:fld>
            <a:endParaRPr lang="en-US"/>
          </a:p>
        </p:txBody>
      </p:sp>
      <p:sp>
        <p:nvSpPr>
          <p:cNvPr id="8" name="Footer Placeholder 7">
            <a:extLst>
              <a:ext uri="{FF2B5EF4-FFF2-40B4-BE49-F238E27FC236}">
                <a16:creationId xmlns:a16="http://schemas.microsoft.com/office/drawing/2014/main" id="{0BF957AD-BC0E-4D6D-B7BD-B0C3A7E99075}"/>
              </a:ext>
            </a:extLst>
          </p:cNvPr>
          <p:cNvSpPr>
            <a:spLocks noGrp="1"/>
          </p:cNvSpPr>
          <p:nvPr>
            <p:ph type="ftr" sz="quarter" idx="11"/>
          </p:nvPr>
        </p:nvSpPr>
        <p:spPr/>
        <p:txBody>
          <a:bodyPr/>
          <a:lstStyle/>
          <a:p>
            <a:r>
              <a:rPr lang="en-US"/>
              <a:t>© 2022 by the Casualty Actuarial Society. All rights reserved.</a:t>
            </a:r>
          </a:p>
        </p:txBody>
      </p:sp>
      <p:sp>
        <p:nvSpPr>
          <p:cNvPr id="9" name="Slide Number Placeholder 8">
            <a:extLst>
              <a:ext uri="{FF2B5EF4-FFF2-40B4-BE49-F238E27FC236}">
                <a16:creationId xmlns:a16="http://schemas.microsoft.com/office/drawing/2014/main" id="{FCB75172-110B-4246-89AC-533ECA1AF3CA}"/>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11" name="Oval 10">
            <a:extLst>
              <a:ext uri="{FF2B5EF4-FFF2-40B4-BE49-F238E27FC236}">
                <a16:creationId xmlns:a16="http://schemas.microsoft.com/office/drawing/2014/main" id="{13DA2C24-B7AD-4971-A68B-EC0716E5189F}"/>
              </a:ext>
            </a:extLst>
          </p:cNvPr>
          <p:cNvSpPr/>
          <p:nvPr userDrawn="1"/>
        </p:nvSpPr>
        <p:spPr>
          <a:xfrm>
            <a:off x="836612" y="744538"/>
            <a:ext cx="481013" cy="481013"/>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3758ECF0-B3EE-4391-8321-019A4FEB0A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8559675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D479E-B996-49E3-B70F-7062AD178550}"/>
              </a:ext>
            </a:extLst>
          </p:cNvPr>
          <p:cNvSpPr>
            <a:spLocks noGrp="1"/>
          </p:cNvSpPr>
          <p:nvPr>
            <p:ph type="title"/>
          </p:nvPr>
        </p:nvSpPr>
        <p:spPr>
          <a:xfrm>
            <a:off x="1695450" y="317500"/>
            <a:ext cx="965835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3510704B-C35E-43EA-AA41-EC50ADD5FFB8}"/>
              </a:ext>
            </a:extLst>
          </p:cNvPr>
          <p:cNvSpPr>
            <a:spLocks noGrp="1"/>
          </p:cNvSpPr>
          <p:nvPr>
            <p:ph type="dt" sz="half" idx="10"/>
          </p:nvPr>
        </p:nvSpPr>
        <p:spPr/>
        <p:txBody>
          <a:bodyPr/>
          <a:lstStyle/>
          <a:p>
            <a:fld id="{A062E5B7-3667-4798-BCEF-5DD9C8E90417}" type="datetime1">
              <a:rPr lang="en-US" smtClean="0"/>
              <a:t>1/15/2026</a:t>
            </a:fld>
            <a:endParaRPr lang="en-US"/>
          </a:p>
        </p:txBody>
      </p:sp>
      <p:sp>
        <p:nvSpPr>
          <p:cNvPr id="4" name="Footer Placeholder 3">
            <a:extLst>
              <a:ext uri="{FF2B5EF4-FFF2-40B4-BE49-F238E27FC236}">
                <a16:creationId xmlns:a16="http://schemas.microsoft.com/office/drawing/2014/main" id="{885F3918-136C-4656-8BF5-514D9657749F}"/>
              </a:ext>
            </a:extLst>
          </p:cNvPr>
          <p:cNvSpPr>
            <a:spLocks noGrp="1"/>
          </p:cNvSpPr>
          <p:nvPr>
            <p:ph type="ftr" sz="quarter" idx="11"/>
          </p:nvPr>
        </p:nvSpPr>
        <p:spPr/>
        <p:txBody>
          <a:bodyPr/>
          <a:lstStyle/>
          <a:p>
            <a:r>
              <a:rPr lang="en-US"/>
              <a:t>© 2022 by the Casualty Actuarial Society. All rights reserved.</a:t>
            </a:r>
          </a:p>
        </p:txBody>
      </p:sp>
      <p:sp>
        <p:nvSpPr>
          <p:cNvPr id="5" name="Slide Number Placeholder 4">
            <a:extLst>
              <a:ext uri="{FF2B5EF4-FFF2-40B4-BE49-F238E27FC236}">
                <a16:creationId xmlns:a16="http://schemas.microsoft.com/office/drawing/2014/main" id="{0EDBF4F7-5C39-4F8B-B12C-BBFF119D84B4}"/>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7" name="Oval 6">
            <a:extLst>
              <a:ext uri="{FF2B5EF4-FFF2-40B4-BE49-F238E27FC236}">
                <a16:creationId xmlns:a16="http://schemas.microsoft.com/office/drawing/2014/main" id="{E303BCE3-5A3A-4BFA-B1DD-CA1085ECEC30}"/>
              </a:ext>
            </a:extLst>
          </p:cNvPr>
          <p:cNvSpPr/>
          <p:nvPr userDrawn="1"/>
        </p:nvSpPr>
        <p:spPr>
          <a:xfrm>
            <a:off x="836612" y="696913"/>
            <a:ext cx="481013" cy="481013"/>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A3CD60B-AEA1-49CA-87C4-1CEA3D01C6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261469840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1E628-85CD-4F2D-B7C0-CA91BCFAF966}"/>
              </a:ext>
            </a:extLst>
          </p:cNvPr>
          <p:cNvSpPr>
            <a:spLocks noGrp="1"/>
          </p:cNvSpPr>
          <p:nvPr>
            <p:ph type="dt" sz="half" idx="10"/>
          </p:nvPr>
        </p:nvSpPr>
        <p:spPr/>
        <p:txBody>
          <a:bodyPr/>
          <a:lstStyle/>
          <a:p>
            <a:fld id="{FA5345FF-8FB0-4B21-9044-45FE31BDA093}" type="datetime1">
              <a:rPr lang="en-US" smtClean="0"/>
              <a:t>1/15/2026</a:t>
            </a:fld>
            <a:endParaRPr lang="en-US"/>
          </a:p>
        </p:txBody>
      </p:sp>
      <p:sp>
        <p:nvSpPr>
          <p:cNvPr id="3" name="Footer Placeholder 2">
            <a:extLst>
              <a:ext uri="{FF2B5EF4-FFF2-40B4-BE49-F238E27FC236}">
                <a16:creationId xmlns:a16="http://schemas.microsoft.com/office/drawing/2014/main" id="{DE5A55A3-4CDF-4C8D-AD58-44649DC19502}"/>
              </a:ext>
            </a:extLst>
          </p:cNvPr>
          <p:cNvSpPr>
            <a:spLocks noGrp="1"/>
          </p:cNvSpPr>
          <p:nvPr>
            <p:ph type="ftr" sz="quarter" idx="11"/>
          </p:nvPr>
        </p:nvSpPr>
        <p:spPr/>
        <p:txBody>
          <a:bodyPr/>
          <a:lstStyle/>
          <a:p>
            <a:r>
              <a:rPr lang="en-US"/>
              <a:t>© 2022 by the Casualty Actuarial Society. All rights reserved.</a:t>
            </a:r>
          </a:p>
        </p:txBody>
      </p:sp>
      <p:sp>
        <p:nvSpPr>
          <p:cNvPr id="4" name="Slide Number Placeholder 3">
            <a:extLst>
              <a:ext uri="{FF2B5EF4-FFF2-40B4-BE49-F238E27FC236}">
                <a16:creationId xmlns:a16="http://schemas.microsoft.com/office/drawing/2014/main" id="{BCAB45DE-2688-402D-BBA5-EC5D9EBB56A6}"/>
              </a:ext>
            </a:extLst>
          </p:cNvPr>
          <p:cNvSpPr>
            <a:spLocks noGrp="1"/>
          </p:cNvSpPr>
          <p:nvPr>
            <p:ph type="sldNum" sz="quarter" idx="12"/>
          </p:nvPr>
        </p:nvSpPr>
        <p:spPr/>
        <p:txBody>
          <a:bodyPr/>
          <a:lstStyle/>
          <a:p>
            <a:fld id="{D8739219-3C6B-44F9-8CFD-C30B3EB7D220}" type="slidenum">
              <a:rPr lang="en-US" smtClean="0"/>
              <a:t>‹#›</a:t>
            </a:fld>
            <a:endParaRPr lang="en-US"/>
          </a:p>
        </p:txBody>
      </p:sp>
    </p:spTree>
    <p:extLst>
      <p:ext uri="{BB962C8B-B14F-4D97-AF65-F5344CB8AC3E}">
        <p14:creationId xmlns:p14="http://schemas.microsoft.com/office/powerpoint/2010/main" val="35604234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1E6EE-0C36-48EB-93F0-DFDCC191A806}"/>
              </a:ext>
            </a:extLst>
          </p:cNvPr>
          <p:cNvSpPr>
            <a:spLocks noGrp="1"/>
          </p:cNvSpPr>
          <p:nvPr>
            <p:ph type="title"/>
          </p:nvPr>
        </p:nvSpPr>
        <p:spPr>
          <a:xfrm>
            <a:off x="1371600" y="457200"/>
            <a:ext cx="340042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1E369E-3F97-45B2-93B2-AA547AEEA1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C3BD39-2256-4F50-892A-C163D81F59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DA559E-BA67-4DB8-A376-BA2787A7FA3A}"/>
              </a:ext>
            </a:extLst>
          </p:cNvPr>
          <p:cNvSpPr>
            <a:spLocks noGrp="1"/>
          </p:cNvSpPr>
          <p:nvPr>
            <p:ph type="dt" sz="half" idx="10"/>
          </p:nvPr>
        </p:nvSpPr>
        <p:spPr/>
        <p:txBody>
          <a:bodyPr/>
          <a:lstStyle/>
          <a:p>
            <a:fld id="{BB2B0A41-4150-48D9-A39D-0E86CB318D74}" type="datetime1">
              <a:rPr lang="en-US" smtClean="0"/>
              <a:t>1/15/2026</a:t>
            </a:fld>
            <a:endParaRPr lang="en-US"/>
          </a:p>
        </p:txBody>
      </p:sp>
      <p:sp>
        <p:nvSpPr>
          <p:cNvPr id="6" name="Footer Placeholder 5">
            <a:extLst>
              <a:ext uri="{FF2B5EF4-FFF2-40B4-BE49-F238E27FC236}">
                <a16:creationId xmlns:a16="http://schemas.microsoft.com/office/drawing/2014/main" id="{CFF7FE14-1A6C-4073-9B4D-409CAAAAD6EB}"/>
              </a:ext>
            </a:extLst>
          </p:cNvPr>
          <p:cNvSpPr>
            <a:spLocks noGrp="1"/>
          </p:cNvSpPr>
          <p:nvPr>
            <p:ph type="ftr" sz="quarter" idx="11"/>
          </p:nvPr>
        </p:nvSpPr>
        <p:spPr/>
        <p:txBody>
          <a:bodyPr/>
          <a:lstStyle/>
          <a:p>
            <a:r>
              <a:rPr lang="en-US"/>
              <a:t>© 2022 by the Casualty Actuarial Society. All rights reserved.</a:t>
            </a:r>
          </a:p>
        </p:txBody>
      </p:sp>
      <p:sp>
        <p:nvSpPr>
          <p:cNvPr id="7" name="Slide Number Placeholder 6">
            <a:extLst>
              <a:ext uri="{FF2B5EF4-FFF2-40B4-BE49-F238E27FC236}">
                <a16:creationId xmlns:a16="http://schemas.microsoft.com/office/drawing/2014/main" id="{5A88BF30-47A5-48C2-A99D-E573853A5EFB}"/>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8" name="Oval 7">
            <a:extLst>
              <a:ext uri="{FF2B5EF4-FFF2-40B4-BE49-F238E27FC236}">
                <a16:creationId xmlns:a16="http://schemas.microsoft.com/office/drawing/2014/main" id="{965A2820-F565-411A-8C73-4AE9F5AFAEF2}"/>
              </a:ext>
            </a:extLst>
          </p:cNvPr>
          <p:cNvSpPr/>
          <p:nvPr userDrawn="1"/>
        </p:nvSpPr>
        <p:spPr>
          <a:xfrm>
            <a:off x="836612" y="711017"/>
            <a:ext cx="327025" cy="327025"/>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5CBB37B-AA31-42A1-A401-3B7AEB04443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38391684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A7984-9C94-4802-B270-B3AB4535BAB0}"/>
              </a:ext>
            </a:extLst>
          </p:cNvPr>
          <p:cNvSpPr>
            <a:spLocks noGrp="1"/>
          </p:cNvSpPr>
          <p:nvPr>
            <p:ph type="title"/>
          </p:nvPr>
        </p:nvSpPr>
        <p:spPr>
          <a:xfrm>
            <a:off x="1387549" y="457200"/>
            <a:ext cx="3384476"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B32777D-148B-43B3-AA4A-53BF6E65D6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C63876-FDB8-4B73-95F8-144076349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2F5DEF-406E-4E54-8F52-697792408F2B}"/>
              </a:ext>
            </a:extLst>
          </p:cNvPr>
          <p:cNvSpPr>
            <a:spLocks noGrp="1"/>
          </p:cNvSpPr>
          <p:nvPr>
            <p:ph type="dt" sz="half" idx="10"/>
          </p:nvPr>
        </p:nvSpPr>
        <p:spPr/>
        <p:txBody>
          <a:bodyPr/>
          <a:lstStyle/>
          <a:p>
            <a:fld id="{75718B72-2DD8-47A0-8480-A0A8546504B6}" type="datetime1">
              <a:rPr lang="en-US" smtClean="0"/>
              <a:t>1/15/2026</a:t>
            </a:fld>
            <a:endParaRPr lang="en-US"/>
          </a:p>
        </p:txBody>
      </p:sp>
      <p:sp>
        <p:nvSpPr>
          <p:cNvPr id="6" name="Footer Placeholder 5">
            <a:extLst>
              <a:ext uri="{FF2B5EF4-FFF2-40B4-BE49-F238E27FC236}">
                <a16:creationId xmlns:a16="http://schemas.microsoft.com/office/drawing/2014/main" id="{7B1CDD1E-826F-4685-AD1D-C5BCE848AFFA}"/>
              </a:ext>
            </a:extLst>
          </p:cNvPr>
          <p:cNvSpPr>
            <a:spLocks noGrp="1"/>
          </p:cNvSpPr>
          <p:nvPr>
            <p:ph type="ftr" sz="quarter" idx="11"/>
          </p:nvPr>
        </p:nvSpPr>
        <p:spPr/>
        <p:txBody>
          <a:bodyPr/>
          <a:lstStyle/>
          <a:p>
            <a:r>
              <a:rPr lang="en-US"/>
              <a:t>© 2022 by the Casualty Actuarial Society. All rights reserved.</a:t>
            </a:r>
          </a:p>
        </p:txBody>
      </p:sp>
      <p:sp>
        <p:nvSpPr>
          <p:cNvPr id="7" name="Slide Number Placeholder 6">
            <a:extLst>
              <a:ext uri="{FF2B5EF4-FFF2-40B4-BE49-F238E27FC236}">
                <a16:creationId xmlns:a16="http://schemas.microsoft.com/office/drawing/2014/main" id="{047D5791-D551-4963-BC60-DBE0E95725B8}"/>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9" name="Oval 8">
            <a:extLst>
              <a:ext uri="{FF2B5EF4-FFF2-40B4-BE49-F238E27FC236}">
                <a16:creationId xmlns:a16="http://schemas.microsoft.com/office/drawing/2014/main" id="{B7E0D67D-0D8E-42B5-A22E-AFD1AEC53EA9}"/>
              </a:ext>
            </a:extLst>
          </p:cNvPr>
          <p:cNvSpPr/>
          <p:nvPr userDrawn="1"/>
        </p:nvSpPr>
        <p:spPr>
          <a:xfrm>
            <a:off x="836612" y="711017"/>
            <a:ext cx="327025" cy="327025"/>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7C728AE2-4EDE-403A-B28C-E02667C49D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45045371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29D29-BDC1-48EC-B965-C27320AFA145}"/>
              </a:ext>
            </a:extLst>
          </p:cNvPr>
          <p:cNvSpPr>
            <a:spLocks noGrp="1"/>
          </p:cNvSpPr>
          <p:nvPr>
            <p:ph type="title"/>
          </p:nvPr>
        </p:nvSpPr>
        <p:spPr>
          <a:xfrm>
            <a:off x="1695450" y="317500"/>
            <a:ext cx="9658350" cy="1325563"/>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169FB0-2E42-45BC-9466-D94954F452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79A241-3FA8-46D9-A2FC-4C98229F793C}"/>
              </a:ext>
            </a:extLst>
          </p:cNvPr>
          <p:cNvSpPr>
            <a:spLocks noGrp="1"/>
          </p:cNvSpPr>
          <p:nvPr>
            <p:ph type="dt" sz="half" idx="10"/>
          </p:nvPr>
        </p:nvSpPr>
        <p:spPr/>
        <p:txBody>
          <a:bodyPr/>
          <a:lstStyle/>
          <a:p>
            <a:fld id="{DC91B3E1-EF39-49E9-A638-1152A13BFD25}" type="datetime1">
              <a:rPr lang="en-US" smtClean="0"/>
              <a:t>1/15/2026</a:t>
            </a:fld>
            <a:endParaRPr lang="en-US"/>
          </a:p>
        </p:txBody>
      </p:sp>
      <p:sp>
        <p:nvSpPr>
          <p:cNvPr id="5" name="Footer Placeholder 4">
            <a:extLst>
              <a:ext uri="{FF2B5EF4-FFF2-40B4-BE49-F238E27FC236}">
                <a16:creationId xmlns:a16="http://schemas.microsoft.com/office/drawing/2014/main" id="{20FC1CA5-EC90-47AD-AA83-5A2AA40BBB10}"/>
              </a:ext>
            </a:extLst>
          </p:cNvPr>
          <p:cNvSpPr>
            <a:spLocks noGrp="1"/>
          </p:cNvSpPr>
          <p:nvPr>
            <p:ph type="ftr" sz="quarter" idx="11"/>
          </p:nvPr>
        </p:nvSpPr>
        <p:spPr/>
        <p:txBody>
          <a:bodyPr/>
          <a:lstStyle/>
          <a:p>
            <a:r>
              <a:rPr lang="en-US"/>
              <a:t>© 2022 by the Casualty Actuarial Society. All rights reserved.</a:t>
            </a:r>
          </a:p>
        </p:txBody>
      </p:sp>
      <p:sp>
        <p:nvSpPr>
          <p:cNvPr id="6" name="Slide Number Placeholder 5">
            <a:extLst>
              <a:ext uri="{FF2B5EF4-FFF2-40B4-BE49-F238E27FC236}">
                <a16:creationId xmlns:a16="http://schemas.microsoft.com/office/drawing/2014/main" id="{809CB3F4-50AF-4AED-953F-053CBBCDFBCB}"/>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7" name="Oval 6">
            <a:extLst>
              <a:ext uri="{FF2B5EF4-FFF2-40B4-BE49-F238E27FC236}">
                <a16:creationId xmlns:a16="http://schemas.microsoft.com/office/drawing/2014/main" id="{F38233ED-DFD9-424D-A8D4-5BD68693CE36}"/>
              </a:ext>
            </a:extLst>
          </p:cNvPr>
          <p:cNvSpPr/>
          <p:nvPr userDrawn="1"/>
        </p:nvSpPr>
        <p:spPr>
          <a:xfrm>
            <a:off x="836612" y="696913"/>
            <a:ext cx="481013" cy="481013"/>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F6E596F-CD3C-4B9B-9645-1FE28F9BD20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165520792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AEC63-00B7-4CA2-83AC-090F9723B7C3}"/>
              </a:ext>
            </a:extLst>
          </p:cNvPr>
          <p:cNvSpPr>
            <a:spLocks noGrp="1"/>
          </p:cNvSpPr>
          <p:nvPr>
            <p:ph type="title" orient="vert"/>
          </p:nvPr>
        </p:nvSpPr>
        <p:spPr>
          <a:xfrm>
            <a:off x="8724900" y="1247775"/>
            <a:ext cx="2628900" cy="492918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DE54F5-11CE-441E-8369-0406BF602E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92F9A0-8D9F-477D-B30B-B66E248329C2}"/>
              </a:ext>
            </a:extLst>
          </p:cNvPr>
          <p:cNvSpPr>
            <a:spLocks noGrp="1"/>
          </p:cNvSpPr>
          <p:nvPr>
            <p:ph type="dt" sz="half" idx="10"/>
          </p:nvPr>
        </p:nvSpPr>
        <p:spPr/>
        <p:txBody>
          <a:bodyPr/>
          <a:lstStyle/>
          <a:p>
            <a:fld id="{8C53305C-AF52-48F6-90D3-264BEFBC8363}" type="datetime1">
              <a:rPr lang="en-US" smtClean="0"/>
              <a:t>1/15/2026</a:t>
            </a:fld>
            <a:endParaRPr lang="en-US"/>
          </a:p>
        </p:txBody>
      </p:sp>
      <p:sp>
        <p:nvSpPr>
          <p:cNvPr id="5" name="Footer Placeholder 4">
            <a:extLst>
              <a:ext uri="{FF2B5EF4-FFF2-40B4-BE49-F238E27FC236}">
                <a16:creationId xmlns:a16="http://schemas.microsoft.com/office/drawing/2014/main" id="{D2043A4F-7C6F-4A9E-9E54-5A6C0358DDA6}"/>
              </a:ext>
            </a:extLst>
          </p:cNvPr>
          <p:cNvSpPr>
            <a:spLocks noGrp="1"/>
          </p:cNvSpPr>
          <p:nvPr>
            <p:ph type="ftr" sz="quarter" idx="11"/>
          </p:nvPr>
        </p:nvSpPr>
        <p:spPr/>
        <p:txBody>
          <a:bodyPr/>
          <a:lstStyle/>
          <a:p>
            <a:r>
              <a:rPr lang="en-US"/>
              <a:t>© 2022 by the Casualty Actuarial Society. All rights reserved.</a:t>
            </a:r>
          </a:p>
        </p:txBody>
      </p:sp>
      <p:sp>
        <p:nvSpPr>
          <p:cNvPr id="6" name="Slide Number Placeholder 5">
            <a:extLst>
              <a:ext uri="{FF2B5EF4-FFF2-40B4-BE49-F238E27FC236}">
                <a16:creationId xmlns:a16="http://schemas.microsoft.com/office/drawing/2014/main" id="{C2F1AFCF-7AF1-4BAB-AEEF-7D6C4F249F65}"/>
              </a:ext>
            </a:extLst>
          </p:cNvPr>
          <p:cNvSpPr>
            <a:spLocks noGrp="1"/>
          </p:cNvSpPr>
          <p:nvPr>
            <p:ph type="sldNum" sz="quarter" idx="12"/>
          </p:nvPr>
        </p:nvSpPr>
        <p:spPr/>
        <p:txBody>
          <a:bodyPr/>
          <a:lstStyle/>
          <a:p>
            <a:fld id="{D8739219-3C6B-44F9-8CFD-C30B3EB7D220}" type="slidenum">
              <a:rPr lang="en-US" smtClean="0"/>
              <a:t>‹#›</a:t>
            </a:fld>
            <a:endParaRPr lang="en-US"/>
          </a:p>
        </p:txBody>
      </p:sp>
      <p:sp>
        <p:nvSpPr>
          <p:cNvPr id="7" name="Oval 6">
            <a:extLst>
              <a:ext uri="{FF2B5EF4-FFF2-40B4-BE49-F238E27FC236}">
                <a16:creationId xmlns:a16="http://schemas.microsoft.com/office/drawing/2014/main" id="{1F804816-2058-4E56-B13C-35B6ABDD4E17}"/>
              </a:ext>
            </a:extLst>
          </p:cNvPr>
          <p:cNvSpPr/>
          <p:nvPr userDrawn="1"/>
        </p:nvSpPr>
        <p:spPr>
          <a:xfrm rot="5400000">
            <a:off x="10123487" y="365125"/>
            <a:ext cx="481013" cy="481013"/>
          </a:xfrm>
          <a:prstGeom prst="ellipse">
            <a:avLst/>
          </a:prstGeom>
          <a:solidFill>
            <a:srgbClr val="FED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4375B30-A0D7-4C0B-BF59-270E265EDF5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381000" y="5513462"/>
            <a:ext cx="1040784" cy="1040784"/>
          </a:xfrm>
          <a:prstGeom prst="rect">
            <a:avLst/>
          </a:prstGeom>
        </p:spPr>
      </p:pic>
    </p:spTree>
    <p:extLst>
      <p:ext uri="{BB962C8B-B14F-4D97-AF65-F5344CB8AC3E}">
        <p14:creationId xmlns:p14="http://schemas.microsoft.com/office/powerpoint/2010/main" val="3322910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2.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CB31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Univers LT Std 55" panose="020B0603020202020204" pitchFamily="34" charset="0"/>
              </a:defRPr>
            </a:lvl1pPr>
          </a:lstStyle>
          <a:p>
            <a:fld id="{A264A6E4-CFA0-4B2D-8F32-633E0859C1D1}" type="datetimeFigureOut">
              <a:rPr lang="en-US" smtClean="0"/>
              <a:pPr/>
              <a:t>1/15/2026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Univers LT Std 55" panose="020B0603020202020204" pitchFamily="34" charset="0"/>
              </a:defRPr>
            </a:lvl1pPr>
          </a:lstStyle>
          <a:p>
            <a:r>
              <a:rPr lang="en-US"/>
              <a:t>© 2022 by the Casualty Actuarial Society. All rights reserved.</a:t>
            </a:r>
          </a:p>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Univers LT Std 55" panose="020B0603020202020204" pitchFamily="34" charset="0"/>
              </a:defRPr>
            </a:lvl1pPr>
          </a:lstStyle>
          <a:p>
            <a:fld id="{273E7623-BBEB-4428-BB2F-61EF81B76904}" type="slidenum">
              <a:rPr lang="en-US" smtClean="0"/>
              <a:pPr/>
              <a:t>‹#›</a:t>
            </a:fld>
            <a:endParaRPr lang="en-US"/>
          </a:p>
        </p:txBody>
      </p:sp>
      <p:pic>
        <p:nvPicPr>
          <p:cNvPr id="12" name="Picture 11"/>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1673218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682625" indent="0" algn="l" defTabSz="914400" rtl="0" eaLnBrk="1" latinLnBrk="0" hangingPunct="1">
        <a:lnSpc>
          <a:spcPct val="90000"/>
        </a:lnSpc>
        <a:spcBef>
          <a:spcPct val="0"/>
        </a:spcBef>
        <a:buNone/>
        <a:defRPr sz="4400" b="0" kern="1200">
          <a:solidFill>
            <a:srgbClr val="001C59"/>
          </a:solidFill>
          <a:latin typeface="Univers LT Std 45 Light" panose="020B0403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Univers LT Std 55"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Univers LT Std 55"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Univers LT Std 55"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Univers LT Std 55"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Univers LT Std 55"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Univers LT Std 55" panose="020B0603020202020204" pitchFamily="34" charset="0"/>
              </a:defRPr>
            </a:lvl1pPr>
          </a:lstStyle>
          <a:p>
            <a:fld id="{791AB61E-2E6B-44C9-AA85-BEFCC1C9B2A8}" type="datetimeFigureOut">
              <a:rPr lang="en-US" smtClean="0"/>
              <a:pPr/>
              <a:t>1/15/2026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Univers LT Std 55" panose="020B0603020202020204" pitchFamily="34" charset="0"/>
              </a:defRPr>
            </a:lvl1pPr>
          </a:lstStyle>
          <a:p>
            <a:r>
              <a:rPr lang="en-US"/>
              <a:t>© 2022 by the Casualty Actuarial Society. All rights reserved.</a:t>
            </a:r>
          </a:p>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Univers LT Std 55" panose="020B0603020202020204" pitchFamily="34" charset="0"/>
              </a:defRPr>
            </a:lvl1pPr>
          </a:lstStyle>
          <a:p>
            <a:fld id="{9F064EB1-AA73-4F06-AC58-EA3ED7859B38}" type="slidenum">
              <a:rPr lang="en-US" smtClean="0"/>
              <a:pPr/>
              <a:t>‹#›</a:t>
            </a:fld>
            <a:endParaRPr lang="en-US"/>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
        <p:nvSpPr>
          <p:cNvPr id="8" name="Pentagon 14"/>
          <p:cNvSpPr/>
          <p:nvPr userDrawn="1"/>
        </p:nvSpPr>
        <p:spPr>
          <a:xfrm rot="5400000">
            <a:off x="372581" y="830746"/>
            <a:ext cx="1347926" cy="416688"/>
          </a:xfrm>
          <a:custGeom>
            <a:avLst/>
            <a:gdLst>
              <a:gd name="connsiteX0" fmla="*/ 0 w 1556270"/>
              <a:gd name="connsiteY0" fmla="*/ 0 h 416688"/>
              <a:gd name="connsiteX1" fmla="*/ 1347926 w 1556270"/>
              <a:gd name="connsiteY1" fmla="*/ 0 h 416688"/>
              <a:gd name="connsiteX2" fmla="*/ 1556270 w 1556270"/>
              <a:gd name="connsiteY2" fmla="*/ 208344 h 416688"/>
              <a:gd name="connsiteX3" fmla="*/ 1347926 w 1556270"/>
              <a:gd name="connsiteY3" fmla="*/ 416688 h 416688"/>
              <a:gd name="connsiteX4" fmla="*/ 0 w 1556270"/>
              <a:gd name="connsiteY4" fmla="*/ 416688 h 416688"/>
              <a:gd name="connsiteX5" fmla="*/ 0 w 1556270"/>
              <a:gd name="connsiteY5" fmla="*/ 0 h 416688"/>
              <a:gd name="connsiteX0" fmla="*/ 0 w 1347926"/>
              <a:gd name="connsiteY0" fmla="*/ 0 h 416688"/>
              <a:gd name="connsiteX1" fmla="*/ 1347926 w 1347926"/>
              <a:gd name="connsiteY1" fmla="*/ 0 h 416688"/>
              <a:gd name="connsiteX2" fmla="*/ 1251470 w 1347926"/>
              <a:gd name="connsiteY2" fmla="*/ 203582 h 416688"/>
              <a:gd name="connsiteX3" fmla="*/ 1347926 w 1347926"/>
              <a:gd name="connsiteY3" fmla="*/ 416688 h 416688"/>
              <a:gd name="connsiteX4" fmla="*/ 0 w 1347926"/>
              <a:gd name="connsiteY4" fmla="*/ 416688 h 416688"/>
              <a:gd name="connsiteX5" fmla="*/ 0 w 1347926"/>
              <a:gd name="connsiteY5" fmla="*/ 0 h 416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7926" h="416688">
                <a:moveTo>
                  <a:pt x="0" y="0"/>
                </a:moveTo>
                <a:lnTo>
                  <a:pt x="1347926" y="0"/>
                </a:lnTo>
                <a:lnTo>
                  <a:pt x="1251470" y="203582"/>
                </a:lnTo>
                <a:lnTo>
                  <a:pt x="1347926" y="416688"/>
                </a:lnTo>
                <a:lnTo>
                  <a:pt x="0" y="416688"/>
                </a:lnTo>
                <a:lnTo>
                  <a:pt x="0" y="0"/>
                </a:lnTo>
                <a:close/>
              </a:path>
            </a:pathLst>
          </a:custGeom>
          <a:gradFill flip="none" rotWithShape="0">
            <a:gsLst>
              <a:gs pos="0">
                <a:srgbClr val="0072BC"/>
              </a:gs>
              <a:gs pos="58000">
                <a:srgbClr val="005093"/>
              </a:gs>
              <a:gs pos="100000">
                <a:srgbClr val="001C59"/>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74273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682625" indent="0" algn="l" defTabSz="914400" rtl="0" eaLnBrk="1" latinLnBrk="0" hangingPunct="1">
        <a:lnSpc>
          <a:spcPct val="90000"/>
        </a:lnSpc>
        <a:spcBef>
          <a:spcPct val="0"/>
        </a:spcBef>
        <a:buNone/>
        <a:defRPr sz="4400" b="0" kern="1200">
          <a:solidFill>
            <a:srgbClr val="001C59"/>
          </a:solidFill>
          <a:latin typeface="Univers LT Std 45 Light" panose="020B0403020202020204" pitchFamily="34" charset="0"/>
          <a:ea typeface="+mj-ea"/>
          <a:cs typeface="+mj-cs"/>
        </a:defRPr>
      </a:lvl1pPr>
    </p:titleStyle>
    <p:bodyStyle>
      <a:lvl1pPr marL="228600" indent="-228600" algn="l" defTabSz="914400" rtl="0" eaLnBrk="1" latinLnBrk="0" hangingPunct="1">
        <a:lnSpc>
          <a:spcPct val="90000"/>
        </a:lnSpc>
        <a:spcBef>
          <a:spcPts val="1000"/>
        </a:spcBef>
        <a:buClr>
          <a:srgbClr val="FCB315"/>
        </a:buClr>
        <a:buFont typeface="Arial" panose="020B0604020202020204" pitchFamily="34" charset="0"/>
        <a:buChar char="•"/>
        <a:defRPr sz="2800" kern="1200">
          <a:solidFill>
            <a:srgbClr val="0072BC"/>
          </a:solidFill>
          <a:latin typeface="Univers LT Std 55" panose="020B0603020202020204" pitchFamily="34" charset="0"/>
          <a:ea typeface="+mn-ea"/>
          <a:cs typeface="+mn-cs"/>
        </a:defRPr>
      </a:lvl1pPr>
      <a:lvl2pPr marL="685800" indent="-228600" algn="l" defTabSz="914400" rtl="0" eaLnBrk="1" latinLnBrk="0" hangingPunct="1">
        <a:lnSpc>
          <a:spcPct val="90000"/>
        </a:lnSpc>
        <a:spcBef>
          <a:spcPts val="500"/>
        </a:spcBef>
        <a:buFont typeface="Univers LT Std 55" panose="020B0603020202020204" pitchFamily="34" charset="0"/>
        <a:buChar char="–"/>
        <a:defRPr sz="2400" kern="1200">
          <a:solidFill>
            <a:srgbClr val="001C59"/>
          </a:solidFill>
          <a:latin typeface="Univers LT Std 55"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5093"/>
          </a:solidFill>
          <a:latin typeface="Univers LT Std 55" panose="020B0603020202020204" pitchFamily="34" charset="0"/>
          <a:ea typeface="+mn-ea"/>
          <a:cs typeface="+mn-cs"/>
        </a:defRPr>
      </a:lvl3pPr>
      <a:lvl4pPr marL="1600200" indent="-228600" algn="l" defTabSz="914400" rtl="0" eaLnBrk="1" latinLnBrk="0" hangingPunct="1">
        <a:lnSpc>
          <a:spcPct val="90000"/>
        </a:lnSpc>
        <a:spcBef>
          <a:spcPts val="500"/>
        </a:spcBef>
        <a:buFont typeface="Univers LT Std 55" panose="020B0603020202020204" pitchFamily="34" charset="0"/>
        <a:buChar char="–"/>
        <a:defRPr sz="1800" kern="1200">
          <a:solidFill>
            <a:schemeClr val="tx1"/>
          </a:solidFill>
          <a:latin typeface="Univers LT Std 55" panose="020B0603020202020204" pitchFamily="34" charset="0"/>
          <a:ea typeface="+mn-ea"/>
          <a:cs typeface="+mn-cs"/>
        </a:defRPr>
      </a:lvl4pPr>
      <a:lvl5pPr marL="20574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Univers LT Std 55"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Univers LT Std 55" panose="020B0603020202020204" pitchFamily="34" charset="0"/>
              </a:defRPr>
            </a:lvl1pPr>
          </a:lstStyle>
          <a:p>
            <a:fld id="{791AB61E-2E6B-44C9-AA85-BEFCC1C9B2A8}" type="datetimeFigureOut">
              <a:rPr lang="en-US" smtClean="0"/>
              <a:pPr/>
              <a:t>1/15/2026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Univers LT Std 55" panose="020B0603020202020204" pitchFamily="34" charset="0"/>
              </a:defRPr>
            </a:lvl1pPr>
          </a:lstStyle>
          <a:p>
            <a:r>
              <a:rPr lang="en-US"/>
              <a:t>© 2022 by the Casualty Actuarial Society. All rights reserved.</a:t>
            </a:r>
          </a:p>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Univers LT Std 55" panose="020B0603020202020204" pitchFamily="34" charset="0"/>
              </a:defRPr>
            </a:lvl1pPr>
          </a:lstStyle>
          <a:p>
            <a:fld id="{9F064EB1-AA73-4F06-AC58-EA3ED7859B38}" type="slidenum">
              <a:rPr lang="en-US" smtClean="0"/>
              <a:pPr/>
              <a:t>‹#›</a:t>
            </a:fld>
            <a:endParaRPr lang="en-US"/>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
        <p:nvSpPr>
          <p:cNvPr id="8" name="Pentagon 14"/>
          <p:cNvSpPr/>
          <p:nvPr userDrawn="1"/>
        </p:nvSpPr>
        <p:spPr>
          <a:xfrm rot="5400000">
            <a:off x="372581" y="830746"/>
            <a:ext cx="1347926" cy="416688"/>
          </a:xfrm>
          <a:custGeom>
            <a:avLst/>
            <a:gdLst>
              <a:gd name="connsiteX0" fmla="*/ 0 w 1556270"/>
              <a:gd name="connsiteY0" fmla="*/ 0 h 416688"/>
              <a:gd name="connsiteX1" fmla="*/ 1347926 w 1556270"/>
              <a:gd name="connsiteY1" fmla="*/ 0 h 416688"/>
              <a:gd name="connsiteX2" fmla="*/ 1556270 w 1556270"/>
              <a:gd name="connsiteY2" fmla="*/ 208344 h 416688"/>
              <a:gd name="connsiteX3" fmla="*/ 1347926 w 1556270"/>
              <a:gd name="connsiteY3" fmla="*/ 416688 h 416688"/>
              <a:gd name="connsiteX4" fmla="*/ 0 w 1556270"/>
              <a:gd name="connsiteY4" fmla="*/ 416688 h 416688"/>
              <a:gd name="connsiteX5" fmla="*/ 0 w 1556270"/>
              <a:gd name="connsiteY5" fmla="*/ 0 h 416688"/>
              <a:gd name="connsiteX0" fmla="*/ 0 w 1347926"/>
              <a:gd name="connsiteY0" fmla="*/ 0 h 416688"/>
              <a:gd name="connsiteX1" fmla="*/ 1347926 w 1347926"/>
              <a:gd name="connsiteY1" fmla="*/ 0 h 416688"/>
              <a:gd name="connsiteX2" fmla="*/ 1251470 w 1347926"/>
              <a:gd name="connsiteY2" fmla="*/ 203582 h 416688"/>
              <a:gd name="connsiteX3" fmla="*/ 1347926 w 1347926"/>
              <a:gd name="connsiteY3" fmla="*/ 416688 h 416688"/>
              <a:gd name="connsiteX4" fmla="*/ 0 w 1347926"/>
              <a:gd name="connsiteY4" fmla="*/ 416688 h 416688"/>
              <a:gd name="connsiteX5" fmla="*/ 0 w 1347926"/>
              <a:gd name="connsiteY5" fmla="*/ 0 h 416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7926" h="416688">
                <a:moveTo>
                  <a:pt x="0" y="0"/>
                </a:moveTo>
                <a:lnTo>
                  <a:pt x="1347926" y="0"/>
                </a:lnTo>
                <a:lnTo>
                  <a:pt x="1251470" y="203582"/>
                </a:lnTo>
                <a:lnTo>
                  <a:pt x="1347926" y="416688"/>
                </a:lnTo>
                <a:lnTo>
                  <a:pt x="0" y="416688"/>
                </a:lnTo>
                <a:lnTo>
                  <a:pt x="0" y="0"/>
                </a:lnTo>
                <a:close/>
              </a:path>
            </a:pathLst>
          </a:custGeom>
          <a:gradFill flip="none" rotWithShape="0">
            <a:gsLst>
              <a:gs pos="57000">
                <a:srgbClr val="EE9D17"/>
              </a:gs>
              <a:gs pos="0">
                <a:srgbClr val="FCB315"/>
              </a:gs>
              <a:gs pos="100000">
                <a:srgbClr val="E0861A"/>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765707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marL="682625" indent="0" algn="l" defTabSz="914400" rtl="0" eaLnBrk="1" latinLnBrk="0" hangingPunct="1">
        <a:lnSpc>
          <a:spcPct val="90000"/>
        </a:lnSpc>
        <a:spcBef>
          <a:spcPct val="0"/>
        </a:spcBef>
        <a:buNone/>
        <a:defRPr sz="4400" b="0" kern="1200">
          <a:solidFill>
            <a:srgbClr val="001C59"/>
          </a:solidFill>
          <a:latin typeface="Univers LT Std 45 Light" panose="020B0403020202020204" pitchFamily="34" charset="0"/>
          <a:ea typeface="+mj-ea"/>
          <a:cs typeface="+mj-cs"/>
        </a:defRPr>
      </a:lvl1pPr>
    </p:titleStyle>
    <p:bodyStyle>
      <a:lvl1pPr marL="228600" indent="-228600" algn="l" defTabSz="914400" rtl="0" eaLnBrk="1" latinLnBrk="0" hangingPunct="1">
        <a:lnSpc>
          <a:spcPct val="90000"/>
        </a:lnSpc>
        <a:spcBef>
          <a:spcPts val="1000"/>
        </a:spcBef>
        <a:buClr>
          <a:srgbClr val="FCB315"/>
        </a:buClr>
        <a:buFont typeface="Arial" panose="020B0604020202020204" pitchFamily="34" charset="0"/>
        <a:buChar char="•"/>
        <a:defRPr sz="2800" kern="1200">
          <a:solidFill>
            <a:srgbClr val="0072BC"/>
          </a:solidFill>
          <a:latin typeface="Univers LT Std 55" panose="020B0603020202020204" pitchFamily="34" charset="0"/>
          <a:ea typeface="+mn-ea"/>
          <a:cs typeface="+mn-cs"/>
        </a:defRPr>
      </a:lvl1pPr>
      <a:lvl2pPr marL="685800" indent="-228600" algn="l" defTabSz="914400" rtl="0" eaLnBrk="1" latinLnBrk="0" hangingPunct="1">
        <a:lnSpc>
          <a:spcPct val="90000"/>
        </a:lnSpc>
        <a:spcBef>
          <a:spcPts val="500"/>
        </a:spcBef>
        <a:buFont typeface="Univers LT Std 55" panose="020B0603020202020204" pitchFamily="34" charset="0"/>
        <a:buChar char="–"/>
        <a:defRPr sz="2400" kern="1200">
          <a:solidFill>
            <a:srgbClr val="001C59"/>
          </a:solidFill>
          <a:latin typeface="Univers LT Std 55"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5093"/>
          </a:solidFill>
          <a:latin typeface="Univers LT Std 55" panose="020B0603020202020204" pitchFamily="34" charset="0"/>
          <a:ea typeface="+mn-ea"/>
          <a:cs typeface="+mn-cs"/>
        </a:defRPr>
      </a:lvl3pPr>
      <a:lvl4pPr marL="1600200" indent="-228600" algn="l" defTabSz="914400" rtl="0" eaLnBrk="1" latinLnBrk="0" hangingPunct="1">
        <a:lnSpc>
          <a:spcPct val="90000"/>
        </a:lnSpc>
        <a:spcBef>
          <a:spcPts val="500"/>
        </a:spcBef>
        <a:buFont typeface="Univers LT Std 55" panose="020B0603020202020204" pitchFamily="34" charset="0"/>
        <a:buChar char="–"/>
        <a:defRPr sz="1800" kern="1200">
          <a:solidFill>
            <a:schemeClr val="tx1"/>
          </a:solidFill>
          <a:latin typeface="Univers LT Std 55" panose="020B0603020202020204" pitchFamily="34" charset="0"/>
          <a:ea typeface="+mn-ea"/>
          <a:cs typeface="+mn-cs"/>
        </a:defRPr>
      </a:lvl4pPr>
      <a:lvl5pPr marL="20574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Univers LT Std 55"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0072BC"/>
            </a:gs>
            <a:gs pos="58000">
              <a:srgbClr val="005093"/>
            </a:gs>
            <a:gs pos="100000">
              <a:srgbClr val="001C59"/>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latin typeface="Univers LT Std 55" panose="020B0603020202020204" pitchFamily="34" charset="0"/>
              </a:defRPr>
            </a:lvl1pPr>
          </a:lstStyle>
          <a:p>
            <a:fld id="{0450E76A-FAF2-4A6E-A83D-83CD6FB7B52C}" type="datetimeFigureOut">
              <a:rPr lang="en-US" smtClean="0"/>
              <a:pPr/>
              <a:t>1/15/2026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latin typeface="Univers LT Std 55" panose="020B0603020202020204" pitchFamily="34" charset="0"/>
              </a:defRPr>
            </a:lvl1pPr>
          </a:lstStyle>
          <a:p>
            <a:r>
              <a:rPr lang="en-US"/>
              <a:t>© 2022 by the Casualty Actuarial Society. All rights reserved.</a:t>
            </a:r>
          </a:p>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latin typeface="Univers LT Std 55" panose="020B0603020202020204" pitchFamily="34" charset="0"/>
              </a:defRPr>
            </a:lvl1pPr>
          </a:lstStyle>
          <a:p>
            <a:fld id="{E857BCBB-6C30-4328-AAD0-446EE83A25AA}" type="slidenum">
              <a:rPr lang="en-US" smtClean="0"/>
              <a:pPr/>
              <a:t>‹#›</a:t>
            </a:fld>
            <a:endParaRPr lang="en-US"/>
          </a:p>
        </p:txBody>
      </p:sp>
    </p:spTree>
    <p:extLst>
      <p:ext uri="{BB962C8B-B14F-4D97-AF65-F5344CB8AC3E}">
        <p14:creationId xmlns:p14="http://schemas.microsoft.com/office/powerpoint/2010/main" val="20760653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marL="571500" indent="-571500" algn="l" defTabSz="914400" rtl="0" eaLnBrk="1" latinLnBrk="0" hangingPunct="1">
        <a:lnSpc>
          <a:spcPct val="90000"/>
        </a:lnSpc>
        <a:spcBef>
          <a:spcPct val="0"/>
        </a:spcBef>
        <a:buFontTx/>
        <a:buBlip>
          <a:blip r:embed="rId13"/>
        </a:buBlip>
        <a:defRPr sz="4400" b="1" kern="1200">
          <a:solidFill>
            <a:schemeClr val="bg1"/>
          </a:solidFill>
          <a:latin typeface="Univers LT Std 45 Light" panose="020B0403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Univers LT Std 55"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Univers LT Std 55"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Univers LT Std 55"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Univers LT Std 55"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Univers LT Std 55"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Univers LT Std 55" panose="020B0603020202020204" pitchFamily="34" charset="0"/>
              </a:defRPr>
            </a:lvl1pPr>
          </a:lstStyle>
          <a:p>
            <a:fld id="{791AB61E-2E6B-44C9-AA85-BEFCC1C9B2A8}" type="datetimeFigureOut">
              <a:rPr lang="en-US" smtClean="0"/>
              <a:pPr/>
              <a:t>1/15/2026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Univers LT Std 55" panose="020B0603020202020204" pitchFamily="34" charset="0"/>
              </a:defRPr>
            </a:lvl1pPr>
          </a:lstStyle>
          <a:p>
            <a:r>
              <a:rPr lang="en-US"/>
              <a:t>© 2022 by the Casualty Actuarial Society. All rights reserved.</a:t>
            </a:r>
          </a:p>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Univers LT Std 55" panose="020B0603020202020204" pitchFamily="34" charset="0"/>
              </a:defRPr>
            </a:lvl1pPr>
          </a:lstStyle>
          <a:p>
            <a:fld id="{9F064EB1-AA73-4F06-AC58-EA3ED7859B38}" type="slidenum">
              <a:rPr lang="en-US" smtClean="0"/>
              <a:pPr/>
              <a:t>‹#›</a:t>
            </a:fld>
            <a:endParaRPr lang="en-US"/>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690299" y="5513462"/>
            <a:ext cx="1040784" cy="1040784"/>
          </a:xfrm>
          <a:prstGeom prst="rect">
            <a:avLst/>
          </a:prstGeom>
        </p:spPr>
      </p:pic>
    </p:spTree>
    <p:extLst>
      <p:ext uri="{BB962C8B-B14F-4D97-AF65-F5344CB8AC3E}">
        <p14:creationId xmlns:p14="http://schemas.microsoft.com/office/powerpoint/2010/main" val="361690119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b="1" kern="1200">
          <a:solidFill>
            <a:srgbClr val="001C59"/>
          </a:solidFill>
          <a:latin typeface="Univers LT Std 45 Light" panose="020B0403020202020204" pitchFamily="34" charset="0"/>
          <a:ea typeface="+mj-ea"/>
          <a:cs typeface="+mj-cs"/>
        </a:defRPr>
      </a:lvl1pPr>
    </p:titleStyle>
    <p:bodyStyle>
      <a:lvl1pPr marL="228600" indent="-228600" algn="l" defTabSz="914400" rtl="0" eaLnBrk="1" latinLnBrk="0" hangingPunct="1">
        <a:lnSpc>
          <a:spcPct val="90000"/>
        </a:lnSpc>
        <a:spcBef>
          <a:spcPts val="1000"/>
        </a:spcBef>
        <a:buClr>
          <a:srgbClr val="FCB315"/>
        </a:buClr>
        <a:buFont typeface="Arial" panose="020B0604020202020204" pitchFamily="34" charset="0"/>
        <a:buChar char="•"/>
        <a:defRPr sz="2800" kern="1200">
          <a:solidFill>
            <a:srgbClr val="0072BC"/>
          </a:solidFill>
          <a:latin typeface="Univers LT Std 55" panose="020B0603020202020204" pitchFamily="34" charset="0"/>
          <a:ea typeface="+mn-ea"/>
          <a:cs typeface="+mn-cs"/>
        </a:defRPr>
      </a:lvl1pPr>
      <a:lvl2pPr marL="685800" indent="-228600" algn="l" defTabSz="914400" rtl="0" eaLnBrk="1" latinLnBrk="0" hangingPunct="1">
        <a:lnSpc>
          <a:spcPct val="90000"/>
        </a:lnSpc>
        <a:spcBef>
          <a:spcPts val="500"/>
        </a:spcBef>
        <a:buFont typeface="Univers LT Std 55" panose="020B0603020202020204" pitchFamily="34" charset="0"/>
        <a:buChar char="–"/>
        <a:defRPr sz="2400" kern="1200">
          <a:solidFill>
            <a:srgbClr val="001C59"/>
          </a:solidFill>
          <a:latin typeface="Univers LT Std 55"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5093"/>
          </a:solidFill>
          <a:latin typeface="Univers LT Std 55" panose="020B0603020202020204" pitchFamily="34" charset="0"/>
          <a:ea typeface="+mn-ea"/>
          <a:cs typeface="+mn-cs"/>
        </a:defRPr>
      </a:lvl3pPr>
      <a:lvl4pPr marL="1600200" indent="-228600" algn="l" defTabSz="914400" rtl="0" eaLnBrk="1" latinLnBrk="0" hangingPunct="1">
        <a:lnSpc>
          <a:spcPct val="90000"/>
        </a:lnSpc>
        <a:spcBef>
          <a:spcPts val="500"/>
        </a:spcBef>
        <a:buFont typeface="Univers LT Std 55" panose="020B0603020202020204" pitchFamily="34" charset="0"/>
        <a:buChar char="–"/>
        <a:defRPr sz="1800" kern="1200">
          <a:solidFill>
            <a:schemeClr val="tx1"/>
          </a:solidFill>
          <a:latin typeface="Univers LT Std 55" panose="020B0603020202020204" pitchFamily="34" charset="0"/>
          <a:ea typeface="+mn-ea"/>
          <a:cs typeface="+mn-cs"/>
        </a:defRPr>
      </a:lvl4pPr>
      <a:lvl5pPr marL="20574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Univers LT Std 55"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142345"/>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AA6EBD-0726-4337-AF7A-737CFAEFFEB0}"/>
              </a:ext>
            </a:extLst>
          </p:cNvPr>
          <p:cNvSpPr>
            <a:spLocks noGrp="1"/>
          </p:cNvSpPr>
          <p:nvPr>
            <p:ph type="title"/>
          </p:nvPr>
        </p:nvSpPr>
        <p:spPr>
          <a:xfrm>
            <a:off x="838200" y="317500"/>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6582FB-C29C-4DEC-86E1-8C1D7610D7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428D37-8029-4F65-8F3F-C1D1FBA23F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latin typeface="Neue Haas Grotesk Text Pro" panose="020B0504020202020204" pitchFamily="34" charset="0"/>
              </a:defRPr>
            </a:lvl1pPr>
          </a:lstStyle>
          <a:p>
            <a:fld id="{BA432129-A526-4E73-BA30-AE6E410802ED}" type="datetime1">
              <a:rPr lang="en-US" smtClean="0"/>
              <a:t>1/15/2026</a:t>
            </a:fld>
            <a:endParaRPr lang="en-US"/>
          </a:p>
        </p:txBody>
      </p:sp>
      <p:sp>
        <p:nvSpPr>
          <p:cNvPr id="5" name="Footer Placeholder 4">
            <a:extLst>
              <a:ext uri="{FF2B5EF4-FFF2-40B4-BE49-F238E27FC236}">
                <a16:creationId xmlns:a16="http://schemas.microsoft.com/office/drawing/2014/main" id="{348E0ED2-95D8-4831-A02F-3F19536224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latin typeface="Neue Haas Grotesk Text Pro" panose="020B0504020202020204" pitchFamily="34" charset="0"/>
              </a:defRPr>
            </a:lvl1pPr>
          </a:lstStyle>
          <a:p>
            <a:r>
              <a:rPr lang="en-US"/>
              <a:t>© 2022 by the Casualty Actuarial Society. All rights reserved.</a:t>
            </a:r>
          </a:p>
        </p:txBody>
      </p:sp>
      <p:sp>
        <p:nvSpPr>
          <p:cNvPr id="6" name="Slide Number Placeholder 5">
            <a:extLst>
              <a:ext uri="{FF2B5EF4-FFF2-40B4-BE49-F238E27FC236}">
                <a16:creationId xmlns:a16="http://schemas.microsoft.com/office/drawing/2014/main" id="{C7884FDE-F8E1-4FDD-9EB6-33A6AAD6B4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latin typeface="Neue Haas Grotesk Text Pro" panose="020B0504020202020204" pitchFamily="34" charset="0"/>
              </a:defRPr>
            </a:lvl1pPr>
          </a:lstStyle>
          <a:p>
            <a:fld id="{D8739219-3C6B-44F9-8CFD-C30B3EB7D220}" type="slidenum">
              <a:rPr lang="en-US" smtClean="0"/>
              <a:pPr/>
              <a:t>‹#›</a:t>
            </a:fld>
            <a:endParaRPr lang="en-US"/>
          </a:p>
        </p:txBody>
      </p:sp>
    </p:spTree>
    <p:extLst>
      <p:ext uri="{BB962C8B-B14F-4D97-AF65-F5344CB8AC3E}">
        <p14:creationId xmlns:p14="http://schemas.microsoft.com/office/powerpoint/2010/main" val="370865527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dt="0"/>
  <p:txStyles>
    <p:titleStyle>
      <a:lvl1pPr algn="l" defTabSz="914400" rtl="0" eaLnBrk="1" latinLnBrk="0" hangingPunct="1">
        <a:lnSpc>
          <a:spcPct val="90000"/>
        </a:lnSpc>
        <a:spcBef>
          <a:spcPct val="0"/>
        </a:spcBef>
        <a:buNone/>
        <a:defRPr sz="4400" b="1" kern="1200">
          <a:solidFill>
            <a:schemeClr val="bg1"/>
          </a:solidFill>
          <a:latin typeface="Neue Haas Grotesk Text Pro" panose="020B05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Neue Haas Grotesk Tex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Neue Haas Grotesk Tex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Neue Haas Grotesk Tex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Neue Haas Grotesk Tex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Neue Haas Grotesk Tex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AA6EBD-0726-4337-AF7A-737CFAEFFEB0}"/>
              </a:ext>
            </a:extLst>
          </p:cNvPr>
          <p:cNvSpPr>
            <a:spLocks noGrp="1"/>
          </p:cNvSpPr>
          <p:nvPr>
            <p:ph type="title"/>
          </p:nvPr>
        </p:nvSpPr>
        <p:spPr>
          <a:xfrm>
            <a:off x="838200" y="317500"/>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6582FB-C29C-4DEC-86E1-8C1D7610D7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428D37-8029-4F65-8F3F-C1D1FBA23F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Neue Haas Grotesk Text Pro" panose="020B0504020202020204" pitchFamily="34" charset="0"/>
              </a:defRPr>
            </a:lvl1pPr>
          </a:lstStyle>
          <a:p>
            <a:fld id="{978E7ED8-A5D0-4DEE-A05B-D3F6B1C57CE0}" type="datetime1">
              <a:rPr lang="en-US" smtClean="0"/>
              <a:t>1/15/2026</a:t>
            </a:fld>
            <a:endParaRPr lang="en-US"/>
          </a:p>
        </p:txBody>
      </p:sp>
      <p:sp>
        <p:nvSpPr>
          <p:cNvPr id="5" name="Footer Placeholder 4">
            <a:extLst>
              <a:ext uri="{FF2B5EF4-FFF2-40B4-BE49-F238E27FC236}">
                <a16:creationId xmlns:a16="http://schemas.microsoft.com/office/drawing/2014/main" id="{348E0ED2-95D8-4831-A02F-3F19536224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Neue Haas Grotesk Text Pro" panose="020B0504020202020204" pitchFamily="34" charset="0"/>
              </a:defRPr>
            </a:lvl1pPr>
          </a:lstStyle>
          <a:p>
            <a:r>
              <a:rPr lang="en-US"/>
              <a:t>© 2022 by the Casualty Actuarial Society. All rights reserved.</a:t>
            </a:r>
          </a:p>
        </p:txBody>
      </p:sp>
      <p:sp>
        <p:nvSpPr>
          <p:cNvPr id="6" name="Slide Number Placeholder 5">
            <a:extLst>
              <a:ext uri="{FF2B5EF4-FFF2-40B4-BE49-F238E27FC236}">
                <a16:creationId xmlns:a16="http://schemas.microsoft.com/office/drawing/2014/main" id="{C7884FDE-F8E1-4FDD-9EB6-33A6AAD6B4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Neue Haas Grotesk Text Pro" panose="020B0504020202020204" pitchFamily="34" charset="0"/>
              </a:defRPr>
            </a:lvl1pPr>
          </a:lstStyle>
          <a:p>
            <a:fld id="{D8739219-3C6B-44F9-8CFD-C30B3EB7D220}" type="slidenum">
              <a:rPr lang="en-US" smtClean="0"/>
              <a:pPr/>
              <a:t>‹#›</a:t>
            </a:fld>
            <a:endParaRPr lang="en-US"/>
          </a:p>
        </p:txBody>
      </p:sp>
    </p:spTree>
    <p:extLst>
      <p:ext uri="{BB962C8B-B14F-4D97-AF65-F5344CB8AC3E}">
        <p14:creationId xmlns:p14="http://schemas.microsoft.com/office/powerpoint/2010/main" val="32549202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dt="0"/>
  <p:txStyles>
    <p:titleStyle>
      <a:lvl1pPr algn="l" defTabSz="914400" rtl="0" eaLnBrk="1" latinLnBrk="0" hangingPunct="1">
        <a:lnSpc>
          <a:spcPct val="90000"/>
        </a:lnSpc>
        <a:spcBef>
          <a:spcPct val="0"/>
        </a:spcBef>
        <a:buNone/>
        <a:defRPr sz="4400" b="1" kern="1200">
          <a:solidFill>
            <a:srgbClr val="142345"/>
          </a:solidFill>
          <a:latin typeface="Neue Haas Grotesk Text Pro" panose="020B05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42345"/>
          </a:solidFill>
          <a:latin typeface="Neue Haas Grotesk Tex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42345"/>
          </a:solidFill>
          <a:latin typeface="Neue Haas Grotesk Tex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42345"/>
          </a:solidFill>
          <a:latin typeface="Neue Haas Grotesk Tex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42345"/>
          </a:solidFill>
          <a:latin typeface="Neue Haas Grotesk Tex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42345"/>
          </a:solidFill>
          <a:latin typeface="Neue Haas Grotesk Tex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56.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jpeg"/><Relationship Id="rId2" Type="http://schemas.openxmlformats.org/officeDocument/2006/relationships/diagramData" Target="../diagrams/data1.xml"/><Relationship Id="rId1" Type="http://schemas.openxmlformats.org/officeDocument/2006/relationships/slideLayout" Target="../slideLayouts/slideLayout6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8.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8.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8.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8.xml"/><Relationship Id="rId1" Type="http://schemas.openxmlformats.org/officeDocument/2006/relationships/themeOverride" Target="../theme/themeOverride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8.xml"/><Relationship Id="rId1" Type="http://schemas.openxmlformats.org/officeDocument/2006/relationships/themeOverride" Target="../theme/themeOverr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8.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34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05DD8-72CF-43D5-A0BD-89FD677621FB}"/>
              </a:ext>
            </a:extLst>
          </p:cNvPr>
          <p:cNvSpPr>
            <a:spLocks noGrp="1"/>
          </p:cNvSpPr>
          <p:nvPr>
            <p:ph type="ctrTitle"/>
          </p:nvPr>
        </p:nvSpPr>
        <p:spPr>
          <a:xfrm>
            <a:off x="2264636" y="1122363"/>
            <a:ext cx="9527314" cy="2387600"/>
          </a:xfrm>
        </p:spPr>
        <p:txBody>
          <a:bodyPr>
            <a:normAutofit/>
          </a:bodyPr>
          <a:lstStyle/>
          <a:p>
            <a:r>
              <a:rPr lang="en-US" altLang="en-US" sz="6000" b="1">
                <a:latin typeface="Arial" panose="020B0604020202020204" pitchFamily="34" charset="0"/>
                <a:cs typeface="Arial" panose="020B0604020202020204" pitchFamily="34" charset="0"/>
              </a:rPr>
              <a:t>Predictive Modeling  Case Competition</a:t>
            </a:r>
            <a:endParaRPr lang="en-US"/>
          </a:p>
        </p:txBody>
      </p:sp>
      <p:sp>
        <p:nvSpPr>
          <p:cNvPr id="3" name="Subtitle 2">
            <a:extLst>
              <a:ext uri="{FF2B5EF4-FFF2-40B4-BE49-F238E27FC236}">
                <a16:creationId xmlns:a16="http://schemas.microsoft.com/office/drawing/2014/main" id="{47CD220E-2016-432B-91B2-FEAF2814BAA1}"/>
              </a:ext>
            </a:extLst>
          </p:cNvPr>
          <p:cNvSpPr>
            <a:spLocks noGrp="1"/>
          </p:cNvSpPr>
          <p:nvPr>
            <p:ph type="subTitle" idx="1"/>
          </p:nvPr>
        </p:nvSpPr>
        <p:spPr>
          <a:xfrm>
            <a:off x="1524000" y="3849866"/>
            <a:ext cx="9144000" cy="1655762"/>
          </a:xfrm>
        </p:spPr>
        <p:txBody>
          <a:bodyPr>
            <a:normAutofit/>
          </a:bodyPr>
          <a:lstStyle/>
          <a:p>
            <a:pPr algn="l"/>
            <a:r>
              <a:rPr lang="en-US"/>
              <a:t>[Date of Presentation]</a:t>
            </a:r>
          </a:p>
          <a:p>
            <a:pPr algn="l"/>
            <a:r>
              <a:rPr lang="en-US"/>
              <a:t>[Organization]</a:t>
            </a:r>
          </a:p>
        </p:txBody>
      </p:sp>
    </p:spTree>
    <p:extLst>
      <p:ext uri="{BB962C8B-B14F-4D97-AF65-F5344CB8AC3E}">
        <p14:creationId xmlns:p14="http://schemas.microsoft.com/office/powerpoint/2010/main" val="61542058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BFAA-097B-4963-A832-9C0B635467C2}"/>
              </a:ext>
            </a:extLst>
          </p:cNvPr>
          <p:cNvSpPr>
            <a:spLocks noGrp="1"/>
          </p:cNvSpPr>
          <p:nvPr>
            <p:ph type="title"/>
          </p:nvPr>
        </p:nvSpPr>
        <p:spPr/>
        <p:txBody>
          <a:bodyPr/>
          <a:lstStyle/>
          <a:p>
            <a:r>
              <a:rPr lang="en-US">
                <a:latin typeface="Arial"/>
                <a:cs typeface="Arial"/>
              </a:rPr>
              <a:t>Casualty Actuarial Society</a:t>
            </a:r>
          </a:p>
        </p:txBody>
      </p:sp>
      <p:graphicFrame>
        <p:nvGraphicFramePr>
          <p:cNvPr id="7" name="Content Placeholder 4">
            <a:extLst>
              <a:ext uri="{FF2B5EF4-FFF2-40B4-BE49-F238E27FC236}">
                <a16:creationId xmlns:a16="http://schemas.microsoft.com/office/drawing/2014/main" id="{5E1AB511-AA4D-4E79-B0E5-F4145332C237}"/>
              </a:ext>
            </a:extLst>
          </p:cNvPr>
          <p:cNvGraphicFramePr>
            <a:graphicFrameLocks/>
          </p:cNvGraphicFramePr>
          <p:nvPr/>
        </p:nvGraphicFramePr>
        <p:xfrm>
          <a:off x="838201" y="1643063"/>
          <a:ext cx="6228485" cy="45589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Content Placeholder 4">
            <a:extLst>
              <a:ext uri="{FF2B5EF4-FFF2-40B4-BE49-F238E27FC236}">
                <a16:creationId xmlns:a16="http://schemas.microsoft.com/office/drawing/2014/main" id="{B092DB39-AFF2-47A9-B0D0-6B87AA55CFCB}"/>
              </a:ext>
            </a:extLst>
          </p:cNvPr>
          <p:cNvPicPr>
            <a:picLocks noGrp="1" noChangeAspect="1"/>
          </p:cNvPicPr>
          <p:nvPr/>
        </p:nvPicPr>
        <p:blipFill>
          <a:blip r:embed="rId7" cstate="print">
            <a:extLst>
              <a:ext uri="{28A0092B-C50C-407E-A947-70E740481C1C}">
                <a14:useLocalDpi xmlns:a14="http://schemas.microsoft.com/office/drawing/2010/main" val="0"/>
              </a:ext>
            </a:extLst>
          </a:blip>
          <a:stretch>
            <a:fillRect/>
          </a:stretch>
        </p:blipFill>
        <p:spPr bwMode="black">
          <a:xfrm>
            <a:off x="8001429" y="2049567"/>
            <a:ext cx="3122122" cy="3349481"/>
          </a:xfrm>
          <a:prstGeom prst="rect">
            <a:avLst/>
          </a:prstGeom>
          <a:noFill/>
          <a:ln>
            <a:noFill/>
          </a:ln>
          <a:effectLst/>
          <a:extLst>
            <a:ext uri="{909E8E84-426E-40dd-AFC4-6F175D3DCCD1}">
              <a14:hiddenFill xmlns:a14="http://schemas.microsoft.com/office/drawing/2010/main" xmlns:lc="http://schemas.openxmlformats.org/drawingml/2006/lockedCanvas" xmlns="">
                <a:solidFill>
                  <a:schemeClr val="accent1"/>
                </a:solidFill>
              </a14:hiddenFill>
            </a:ext>
            <a:ext uri="{91240B29-F687-4f45-9708-019B960494DF}">
              <a14:hiddenLine xmlns:a14="http://schemas.microsoft.com/office/drawing/2010/main" xmlns:lc="http://schemas.openxmlformats.org/drawingml/2006/lockedCanvas" xmlns="" w="9525">
                <a:solidFill>
                  <a:schemeClr val="tx1"/>
                </a:solidFill>
                <a:miter lim="800000"/>
                <a:headEnd/>
                <a:tailEnd/>
              </a14:hiddenLine>
            </a:ext>
            <a:ext uri="{AF507438-7753-43e0-B8FC-AC1667EBCBE1}">
              <a14:hiddenEffects xmlns:a14="http://schemas.microsoft.com/office/drawing/2010/main" xmlns:lc="http://schemas.openxmlformats.org/drawingml/2006/lockedCanvas" xmlns="">
                <a:effectLst>
                  <a:outerShdw dist="35921" dir="2700000" algn="ctr" rotWithShape="0">
                    <a:schemeClr val="bg2"/>
                  </a:outerShdw>
                </a:effectLst>
              </a14:hiddenEffects>
            </a:ext>
          </a:extLst>
        </p:spPr>
      </p:pic>
      <p:sp>
        <p:nvSpPr>
          <p:cNvPr id="11" name="Footer Placeholder 10">
            <a:extLst>
              <a:ext uri="{FF2B5EF4-FFF2-40B4-BE49-F238E27FC236}">
                <a16:creationId xmlns:a16="http://schemas.microsoft.com/office/drawing/2014/main" id="{488F280E-5C51-40BA-8351-14D8EDDC0E30}"/>
              </a:ext>
            </a:extLst>
          </p:cNvPr>
          <p:cNvSpPr>
            <a:spLocks noGrp="1"/>
          </p:cNvSpPr>
          <p:nvPr>
            <p:ph type="ftr" sz="quarter" idx="11"/>
          </p:nvPr>
        </p:nvSpPr>
        <p:spPr>
          <a:xfrm>
            <a:off x="4038600" y="6356350"/>
            <a:ext cx="4567518" cy="42096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Neue Haas Grotesk Text Pro" panose="020B0504020202020204" pitchFamily="34" charset="0"/>
                <a:ea typeface="+mn-ea"/>
                <a:cs typeface="+mn-cs"/>
              </a:rPr>
              <a:t>© 2022 by the Casualty Actuarial Society. All rights reserved.</a:t>
            </a:r>
          </a:p>
        </p:txBody>
      </p:sp>
    </p:spTree>
    <p:extLst>
      <p:ext uri="{BB962C8B-B14F-4D97-AF65-F5344CB8AC3E}">
        <p14:creationId xmlns:p14="http://schemas.microsoft.com/office/powerpoint/2010/main" val="388438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BFAA-097B-4963-A832-9C0B635467C2}"/>
              </a:ext>
            </a:extLst>
          </p:cNvPr>
          <p:cNvSpPr>
            <a:spLocks noGrp="1"/>
          </p:cNvSpPr>
          <p:nvPr>
            <p:ph type="title"/>
          </p:nvPr>
        </p:nvSpPr>
        <p:spPr>
          <a:xfrm>
            <a:off x="3943661" y="2766218"/>
            <a:ext cx="4304677" cy="1325563"/>
          </a:xfrm>
        </p:spPr>
        <p:txBody>
          <a:bodyPr/>
          <a:lstStyle/>
          <a:p>
            <a:r>
              <a:rPr lang="en-US">
                <a:latin typeface="Arial"/>
                <a:cs typeface="Arial"/>
              </a:rPr>
              <a:t>Case Overview</a:t>
            </a:r>
          </a:p>
        </p:txBody>
      </p:sp>
      <p:sp>
        <p:nvSpPr>
          <p:cNvPr id="4" name="Footer Placeholder 3">
            <a:extLst>
              <a:ext uri="{FF2B5EF4-FFF2-40B4-BE49-F238E27FC236}">
                <a16:creationId xmlns:a16="http://schemas.microsoft.com/office/drawing/2014/main" id="{B9B8B035-C441-45BF-9999-35B370DE2F25}"/>
              </a:ext>
            </a:extLst>
          </p:cNvPr>
          <p:cNvSpPr>
            <a:spLocks noGrp="1"/>
          </p:cNvSpPr>
          <p:nvPr>
            <p:ph type="ftr" sz="quarter" idx="11"/>
          </p:nvPr>
        </p:nvSpPr>
        <p:spPr>
          <a:xfrm>
            <a:off x="4038600" y="6356350"/>
            <a:ext cx="4546002" cy="399452"/>
          </a:xfrm>
        </p:spPr>
        <p:txBody>
          <a:bodyPr/>
          <a:lstStyle/>
          <a:p>
            <a:r>
              <a:rPr lang="en-US"/>
              <a:t>© 2022 by the Casualty Actuarial Society. All rights reserved.</a:t>
            </a:r>
          </a:p>
        </p:txBody>
      </p:sp>
    </p:spTree>
    <p:extLst>
      <p:ext uri="{BB962C8B-B14F-4D97-AF65-F5344CB8AC3E}">
        <p14:creationId xmlns:p14="http://schemas.microsoft.com/office/powerpoint/2010/main" val="735143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4400">
                <a:solidFill>
                  <a:srgbClr val="001C59"/>
                </a:solidFill>
                <a:latin typeface="Arial" panose="020B0604020202020204" pitchFamily="34" charset="0"/>
                <a:cs typeface="Arial" panose="020B0604020202020204" pitchFamily="34" charset="0"/>
              </a:rPr>
              <a:t>Background &amp; Charge</a:t>
            </a:r>
            <a:endParaRPr lang="en-US">
              <a:solidFill>
                <a:srgbClr val="001C59"/>
              </a:solidFill>
              <a:latin typeface="Arial" panose="020B0604020202020204" pitchFamily="34" charset="0"/>
              <a:cs typeface="Arial" panose="020B0604020202020204" pitchFamily="34" charset="0"/>
            </a:endParaRPr>
          </a:p>
        </p:txBody>
      </p:sp>
      <p:sp>
        <p:nvSpPr>
          <p:cNvPr id="5" name="Content Placeholder 4"/>
          <p:cNvSpPr>
            <a:spLocks noGrp="1"/>
          </p:cNvSpPr>
          <p:nvPr>
            <p:ph idx="1"/>
          </p:nvPr>
        </p:nvSpPr>
        <p:spPr/>
        <p:txBody>
          <a:bodyPr>
            <a:normAutofit/>
          </a:bodyPr>
          <a:lstStyle/>
          <a:p>
            <a:r>
              <a:rPr lang="en-US" altLang="en-US" sz="2000">
                <a:solidFill>
                  <a:srgbClr val="001C59"/>
                </a:solidFill>
                <a:latin typeface="Arial" panose="020B0604020202020204" pitchFamily="34" charset="0"/>
                <a:cs typeface="Arial" panose="020B0604020202020204" pitchFamily="34" charset="0"/>
              </a:rPr>
              <a:t>You head up the pricing function for Alpha Beta Gamma (ABG) Insurance, a regional personal lines carrier.</a:t>
            </a:r>
          </a:p>
          <a:p>
            <a:endParaRPr lang="en-US" altLang="en-US" sz="2000">
              <a:solidFill>
                <a:srgbClr val="001C59"/>
              </a:solidFill>
              <a:latin typeface="Arial" panose="020B0604020202020204" pitchFamily="34" charset="0"/>
              <a:cs typeface="Arial" panose="020B0604020202020204" pitchFamily="34" charset="0"/>
            </a:endParaRPr>
          </a:p>
          <a:p>
            <a:r>
              <a:rPr lang="en-US" altLang="en-US" sz="2000">
                <a:solidFill>
                  <a:srgbClr val="001C59"/>
                </a:solidFill>
                <a:latin typeface="Arial" panose="020B0604020202020204" pitchFamily="34" charset="0"/>
                <a:cs typeface="Arial" panose="020B0604020202020204" pitchFamily="34" charset="0"/>
              </a:rPr>
              <a:t>Your firm is interested in expanding their business by increasing their penetration in the renter’s insurance market. </a:t>
            </a:r>
          </a:p>
          <a:p>
            <a:endParaRPr lang="en-US" altLang="en-US" sz="2000">
              <a:solidFill>
                <a:srgbClr val="001C59"/>
              </a:solidFill>
              <a:latin typeface="Arial" panose="020B0604020202020204" pitchFamily="34" charset="0"/>
              <a:cs typeface="Arial" panose="020B0604020202020204" pitchFamily="34" charset="0"/>
            </a:endParaRPr>
          </a:p>
          <a:p>
            <a:r>
              <a:rPr lang="en-US" altLang="en-US" sz="2000">
                <a:solidFill>
                  <a:srgbClr val="001C59"/>
                </a:solidFill>
                <a:latin typeface="Arial" panose="020B0604020202020204" pitchFamily="34" charset="0"/>
                <a:cs typeface="Arial" panose="020B0604020202020204" pitchFamily="34" charset="0"/>
              </a:rPr>
              <a:t>Your firm recently began selling a renter’s insurance product covering dormitory dwellings to college students. </a:t>
            </a:r>
          </a:p>
          <a:p>
            <a:endParaRPr lang="en-US" altLang="en-US" sz="2000">
              <a:solidFill>
                <a:srgbClr val="001C59"/>
              </a:solidFill>
              <a:latin typeface="Arial" panose="020B0604020202020204" pitchFamily="34" charset="0"/>
              <a:cs typeface="Arial" panose="020B0604020202020204" pitchFamily="34" charset="0"/>
            </a:endParaRPr>
          </a:p>
          <a:p>
            <a:r>
              <a:rPr lang="en-US" altLang="en-US" sz="2000" b="1">
                <a:solidFill>
                  <a:srgbClr val="001C59"/>
                </a:solidFill>
                <a:latin typeface="Arial" panose="020B0604020202020204" pitchFamily="34" charset="0"/>
                <a:cs typeface="Arial" panose="020B0604020202020204" pitchFamily="34" charset="0"/>
              </a:rPr>
              <a:t>The CEO has asked to see an outline of a newly developed pricing strategy for current and new Dormitory Insurance business.</a:t>
            </a:r>
            <a:endParaRPr lang="en-US" sz="2000" b="1"/>
          </a:p>
        </p:txBody>
      </p:sp>
      <p:sp>
        <p:nvSpPr>
          <p:cNvPr id="6" name="Footer Placeholder 4">
            <a:extLst>
              <a:ext uri="{FF2B5EF4-FFF2-40B4-BE49-F238E27FC236}">
                <a16:creationId xmlns:a16="http://schemas.microsoft.com/office/drawing/2014/main" id="{742AF0AE-CFB6-41C0-A38B-E78CEBA07CBA}"/>
              </a:ext>
            </a:extLst>
          </p:cNvPr>
          <p:cNvSpPr>
            <a:spLocks noGrp="1"/>
          </p:cNvSpPr>
          <p:nvPr>
            <p:ph type="ftr" sz="quarter" idx="11"/>
          </p:nvPr>
        </p:nvSpPr>
        <p:spPr>
          <a:xfrm>
            <a:off x="4648201" y="6356350"/>
            <a:ext cx="4538830" cy="501649"/>
          </a:xfrm>
        </p:spPr>
        <p:txBody>
          <a:bodyPr/>
          <a:lstStyle/>
          <a:p>
            <a:pPr>
              <a:defRPr/>
            </a:pPr>
            <a:r>
              <a:rPr lang="en-US"/>
              <a:t>© 2022 by the Casualty Actuarial Society. All rights reserved.</a:t>
            </a:r>
          </a:p>
        </p:txBody>
      </p:sp>
    </p:spTree>
    <p:extLst>
      <p:ext uri="{BB962C8B-B14F-4D97-AF65-F5344CB8AC3E}">
        <p14:creationId xmlns:p14="http://schemas.microsoft.com/office/powerpoint/2010/main" val="3493976088"/>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4400">
                <a:solidFill>
                  <a:srgbClr val="001C59"/>
                </a:solidFill>
                <a:latin typeface="Arial" panose="020B0604020202020204" pitchFamily="34" charset="0"/>
                <a:cs typeface="Arial" panose="020B0604020202020204" pitchFamily="34" charset="0"/>
              </a:rPr>
              <a:t>Background &amp; Charge</a:t>
            </a:r>
            <a:endParaRPr lang="en-US"/>
          </a:p>
        </p:txBody>
      </p:sp>
      <p:sp>
        <p:nvSpPr>
          <p:cNvPr id="5" name="Content Placeholder 4"/>
          <p:cNvSpPr>
            <a:spLocks noGrp="1"/>
          </p:cNvSpPr>
          <p:nvPr>
            <p:ph idx="1"/>
          </p:nvPr>
        </p:nvSpPr>
        <p:spPr/>
        <p:txBody>
          <a:bodyPr>
            <a:normAutofit/>
          </a:bodyPr>
          <a:lstStyle/>
          <a:p>
            <a:r>
              <a:rPr lang="en-US" altLang="en-US" sz="2000">
                <a:solidFill>
                  <a:srgbClr val="001C59"/>
                </a:solidFill>
                <a:latin typeface="Arial" panose="020B0604020202020204" pitchFamily="34" charset="0"/>
                <a:cs typeface="Arial" panose="020B0604020202020204" pitchFamily="34" charset="0"/>
              </a:rPr>
              <a:t>You will be creating a predictive model for a rental insurance policy developed for students living in dormitories</a:t>
            </a:r>
          </a:p>
          <a:p>
            <a:pPr lvl="1"/>
            <a:r>
              <a:rPr lang="en-US" altLang="en-US" sz="2000">
                <a:latin typeface="Arial" panose="020B0604020202020204" pitchFamily="34" charset="0"/>
                <a:cs typeface="Arial" panose="020B0604020202020204" pitchFamily="34" charset="0"/>
              </a:rPr>
              <a:t>Rental insurance covers theft of personal property (e.g. laptops)</a:t>
            </a:r>
          </a:p>
          <a:p>
            <a:pPr lvl="1"/>
            <a:r>
              <a:rPr lang="en-US" altLang="en-US" sz="2000">
                <a:solidFill>
                  <a:srgbClr val="001C59"/>
                </a:solidFill>
                <a:latin typeface="Arial" panose="020B0604020202020204" pitchFamily="34" charset="0"/>
                <a:cs typeface="Arial" panose="020B0604020202020204" pitchFamily="34" charset="0"/>
              </a:rPr>
              <a:t>Rental insurance also covers medical expenses for your guests due to injuries sustained while in your rented home (e.g. slip and fall)</a:t>
            </a:r>
          </a:p>
          <a:p>
            <a:pPr lvl="1"/>
            <a:endParaRPr lang="en-US" altLang="en-US" sz="2000">
              <a:solidFill>
                <a:srgbClr val="001C59"/>
              </a:solidFill>
              <a:latin typeface="Arial" panose="020B0604020202020204" pitchFamily="34" charset="0"/>
              <a:cs typeface="Arial" panose="020B0604020202020204" pitchFamily="34" charset="0"/>
            </a:endParaRPr>
          </a:p>
          <a:p>
            <a:r>
              <a:rPr lang="en-US" altLang="en-US" sz="2000">
                <a:solidFill>
                  <a:srgbClr val="001C59"/>
                </a:solidFill>
                <a:latin typeface="Arial" panose="020B0604020202020204" pitchFamily="34" charset="0"/>
                <a:cs typeface="Arial" panose="020B0604020202020204" pitchFamily="34" charset="0"/>
              </a:rPr>
              <a:t>The use of predictive models allows insurers to design complex pricing structures to adequately charge each individual insured</a:t>
            </a:r>
          </a:p>
          <a:p>
            <a:pPr lvl="1"/>
            <a:r>
              <a:rPr lang="en-US" altLang="en-US" sz="2000">
                <a:solidFill>
                  <a:srgbClr val="001C59"/>
                </a:solidFill>
                <a:latin typeface="Arial" panose="020B0604020202020204" pitchFamily="34" charset="0"/>
                <a:cs typeface="Arial" panose="020B0604020202020204" pitchFamily="34" charset="0"/>
              </a:rPr>
              <a:t>Insurers will often use rating tiers to introduce different pricing structures for different groups of insureds based on varying risk level</a:t>
            </a:r>
          </a:p>
          <a:p>
            <a:pPr lvl="1"/>
            <a:r>
              <a:rPr lang="en-US" altLang="en-US" sz="2000">
                <a:solidFill>
                  <a:srgbClr val="001C59"/>
                </a:solidFill>
                <a:latin typeface="Arial" panose="020B0604020202020204" pitchFamily="34" charset="0"/>
                <a:cs typeface="Arial" panose="020B0604020202020204" pitchFamily="34" charset="0"/>
              </a:rPr>
              <a:t>Other information (e.g. GPA) can be used to differentiate pricing in each tier</a:t>
            </a:r>
          </a:p>
          <a:p>
            <a:endParaRPr lang="en-US" altLang="en-US">
              <a:solidFill>
                <a:srgbClr val="001C59"/>
              </a:solidFill>
              <a:latin typeface="Arial" panose="020B0604020202020204" pitchFamily="34" charset="0"/>
              <a:cs typeface="Arial" panose="020B0604020202020204" pitchFamily="34" charset="0"/>
            </a:endParaRPr>
          </a:p>
          <a:p>
            <a:endParaRPr lang="en-US"/>
          </a:p>
        </p:txBody>
      </p:sp>
      <p:sp>
        <p:nvSpPr>
          <p:cNvPr id="6" name="Footer Placeholder 4">
            <a:extLst>
              <a:ext uri="{FF2B5EF4-FFF2-40B4-BE49-F238E27FC236}">
                <a16:creationId xmlns:a16="http://schemas.microsoft.com/office/drawing/2014/main" id="{EC500E2D-3401-48C1-B3DE-D3F2CE916EFA}"/>
              </a:ext>
            </a:extLst>
          </p:cNvPr>
          <p:cNvSpPr>
            <a:spLocks noGrp="1"/>
          </p:cNvSpPr>
          <p:nvPr>
            <p:ph type="ftr" sz="quarter" idx="11"/>
          </p:nvPr>
        </p:nvSpPr>
        <p:spPr>
          <a:xfrm>
            <a:off x="4648200" y="6356350"/>
            <a:ext cx="4560345" cy="501649"/>
          </a:xfrm>
        </p:spPr>
        <p:txBody>
          <a:bodyPr/>
          <a:lstStyle/>
          <a:p>
            <a:pPr>
              <a:defRPr/>
            </a:pPr>
            <a:r>
              <a:rPr lang="en-US"/>
              <a:t>© 2022 by the Casualty Actuarial Society. All rights reserved.</a:t>
            </a:r>
          </a:p>
        </p:txBody>
      </p:sp>
    </p:spTree>
    <p:extLst>
      <p:ext uri="{BB962C8B-B14F-4D97-AF65-F5344CB8AC3E}">
        <p14:creationId xmlns:p14="http://schemas.microsoft.com/office/powerpoint/2010/main" val="3442194682"/>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4400">
                <a:solidFill>
                  <a:srgbClr val="001C59"/>
                </a:solidFill>
                <a:latin typeface="Arial" panose="020B0604020202020204" pitchFamily="34" charset="0"/>
                <a:cs typeface="Arial" panose="020B0604020202020204" pitchFamily="34" charset="0"/>
              </a:rPr>
              <a:t>Deliverables</a:t>
            </a:r>
          </a:p>
        </p:txBody>
      </p:sp>
      <p:sp>
        <p:nvSpPr>
          <p:cNvPr id="5" name="Content Placeholder 4"/>
          <p:cNvSpPr>
            <a:spLocks noGrp="1"/>
          </p:cNvSpPr>
          <p:nvPr>
            <p:ph idx="1"/>
          </p:nvPr>
        </p:nvSpPr>
        <p:spPr>
          <a:xfrm>
            <a:off x="838200" y="1825625"/>
            <a:ext cx="9403080" cy="4370780"/>
          </a:xfrm>
        </p:spPr>
        <p:txBody>
          <a:bodyPr>
            <a:normAutofit lnSpcReduction="10000"/>
          </a:bodyPr>
          <a:lstStyle/>
          <a:p>
            <a:pPr marL="0" lvl="0" indent="0" eaLnBrk="0" fontAlgn="base" hangingPunct="0">
              <a:lnSpc>
                <a:spcPct val="100000"/>
              </a:lnSpc>
              <a:spcBef>
                <a:spcPct val="0"/>
              </a:spcBef>
              <a:spcAft>
                <a:spcPct val="0"/>
              </a:spcAft>
              <a:buClrTx/>
              <a:buSzPct val="45000"/>
              <a:buNone/>
            </a:pPr>
            <a:r>
              <a:rPr lang="en-US" sz="1800" b="1" dirty="0">
                <a:solidFill>
                  <a:srgbClr val="001C59"/>
                </a:solidFill>
                <a:latin typeface="Arial" panose="020B0604020202020204" pitchFamily="34" charset="0"/>
                <a:cs typeface="Arial" panose="020B0604020202020204" pitchFamily="34" charset="0"/>
              </a:rPr>
              <a:t>The presentation and the recommendations/analysis contained within are your key deliverables. </a:t>
            </a:r>
            <a:r>
              <a:rPr lang="en-US" sz="1800" b="1" dirty="0">
                <a:solidFill>
                  <a:srgbClr val="FF0000"/>
                </a:solidFill>
                <a:latin typeface="Arial" panose="020B0604020202020204" pitchFamily="34" charset="0"/>
                <a:cs typeface="Arial" panose="020B0604020202020204" pitchFamily="34" charset="0"/>
              </a:rPr>
              <a:t>We are providing less time than other competitions, so keep this high level – we will tell the judges that was the directive</a:t>
            </a:r>
          </a:p>
          <a:p>
            <a:pPr marL="0" lvl="0" indent="0" eaLnBrk="0" fontAlgn="base" hangingPunct="0">
              <a:lnSpc>
                <a:spcPct val="100000"/>
              </a:lnSpc>
              <a:spcBef>
                <a:spcPct val="0"/>
              </a:spcBef>
              <a:spcAft>
                <a:spcPct val="0"/>
              </a:spcAft>
              <a:buClrTx/>
              <a:buSzPct val="45000"/>
              <a:buNone/>
            </a:pPr>
            <a:endParaRPr lang="en-US" sz="1800" dirty="0">
              <a:solidFill>
                <a:srgbClr val="001C59"/>
              </a:solidFill>
              <a:latin typeface="Arial" panose="020B0604020202020204" pitchFamily="34" charset="0"/>
              <a:cs typeface="Arial" panose="020B0604020202020204" pitchFamily="34" charset="0"/>
            </a:endParaRPr>
          </a:p>
          <a:p>
            <a:pPr marL="0" lvl="0" indent="0" eaLnBrk="0" fontAlgn="base" hangingPunct="0">
              <a:lnSpc>
                <a:spcPct val="100000"/>
              </a:lnSpc>
              <a:spcBef>
                <a:spcPct val="0"/>
              </a:spcBef>
              <a:spcAft>
                <a:spcPct val="0"/>
              </a:spcAft>
              <a:buClrTx/>
              <a:buSzPct val="45000"/>
              <a:buNone/>
            </a:pPr>
            <a:r>
              <a:rPr lang="en-US" sz="1800" u="sng" dirty="0">
                <a:solidFill>
                  <a:srgbClr val="001C59"/>
                </a:solidFill>
                <a:latin typeface="Arial" panose="020B0604020202020204" pitchFamily="34" charset="0"/>
                <a:cs typeface="Arial" panose="020B0604020202020204" pitchFamily="34" charset="0"/>
              </a:rPr>
              <a:t>Important elements of your presentation include: </a:t>
            </a:r>
          </a:p>
          <a:p>
            <a:pPr lvl="0" eaLnBrk="0" fontAlgn="base" hangingPunct="0">
              <a:lnSpc>
                <a:spcPct val="100000"/>
              </a:lnSpc>
              <a:spcBef>
                <a:spcPct val="0"/>
              </a:spcBef>
              <a:spcAft>
                <a:spcPct val="0"/>
              </a:spcAft>
              <a:buClr>
                <a:schemeClr val="tx2"/>
              </a:buClr>
              <a:buSzPct val="100000"/>
            </a:pPr>
            <a:r>
              <a:rPr lang="en-US" sz="1800" dirty="0">
                <a:solidFill>
                  <a:srgbClr val="001C59"/>
                </a:solidFill>
                <a:latin typeface="Arial" panose="020B0604020202020204" pitchFamily="34" charset="0"/>
                <a:cs typeface="Arial" panose="020B0604020202020204" pitchFamily="34" charset="0"/>
              </a:rPr>
              <a:t>Recommendations regarding pricing structure for insureds in each tier</a:t>
            </a:r>
          </a:p>
          <a:p>
            <a:pPr lvl="0" eaLnBrk="0" fontAlgn="base" hangingPunct="0">
              <a:lnSpc>
                <a:spcPct val="100000"/>
              </a:lnSpc>
              <a:spcBef>
                <a:spcPct val="0"/>
              </a:spcBef>
              <a:spcAft>
                <a:spcPct val="0"/>
              </a:spcAft>
              <a:buClr>
                <a:schemeClr val="tx2"/>
              </a:buClr>
              <a:buSzPct val="100000"/>
            </a:pPr>
            <a:endParaRPr lang="en-US" sz="1800" dirty="0">
              <a:solidFill>
                <a:srgbClr val="001C59"/>
              </a:solidFill>
              <a:latin typeface="Arial" panose="020B0604020202020204" pitchFamily="34" charset="0"/>
              <a:cs typeface="Arial" panose="020B0604020202020204" pitchFamily="34" charset="0"/>
            </a:endParaRPr>
          </a:p>
          <a:p>
            <a:pPr lvl="0" eaLnBrk="0" fontAlgn="base" hangingPunct="0">
              <a:lnSpc>
                <a:spcPct val="100000"/>
              </a:lnSpc>
              <a:spcBef>
                <a:spcPct val="0"/>
              </a:spcBef>
              <a:spcAft>
                <a:spcPct val="0"/>
              </a:spcAft>
              <a:buClr>
                <a:schemeClr val="tx2"/>
              </a:buClr>
              <a:buSzPct val="100000"/>
            </a:pPr>
            <a:r>
              <a:rPr lang="en-US" sz="1800" dirty="0">
                <a:solidFill>
                  <a:srgbClr val="001C59"/>
                </a:solidFill>
                <a:latin typeface="Arial" panose="020B0604020202020204" pitchFamily="34" charset="0"/>
                <a:cs typeface="Arial" panose="020B0604020202020204" pitchFamily="34" charset="0"/>
              </a:rPr>
              <a:t>Discuss your approach to account for the expense component of the rate (i.e. overhead, marketing, claims adjusting, etc.)</a:t>
            </a:r>
          </a:p>
          <a:p>
            <a:pPr lvl="1" eaLnBrk="0" fontAlgn="base" hangingPunct="0">
              <a:lnSpc>
                <a:spcPct val="100000"/>
              </a:lnSpc>
              <a:spcBef>
                <a:spcPct val="0"/>
              </a:spcBef>
              <a:spcAft>
                <a:spcPct val="0"/>
              </a:spcAft>
              <a:buClr>
                <a:schemeClr val="tx2"/>
              </a:buClr>
              <a:buSzPct val="100000"/>
            </a:pPr>
            <a:r>
              <a:rPr lang="en-US" sz="1800" dirty="0">
                <a:latin typeface="Arial" panose="020B0604020202020204" pitchFamily="34" charset="0"/>
                <a:cs typeface="Arial" panose="020B0604020202020204" pitchFamily="34" charset="0"/>
              </a:rPr>
              <a:t>Consider the differences between new and renewal customers</a:t>
            </a:r>
          </a:p>
          <a:p>
            <a:pPr lvl="0" eaLnBrk="0" fontAlgn="base" hangingPunct="0">
              <a:lnSpc>
                <a:spcPct val="100000"/>
              </a:lnSpc>
              <a:spcBef>
                <a:spcPct val="0"/>
              </a:spcBef>
              <a:spcAft>
                <a:spcPct val="0"/>
              </a:spcAft>
              <a:buClr>
                <a:schemeClr val="tx2"/>
              </a:buClr>
              <a:buSzPct val="100000"/>
            </a:pPr>
            <a:endParaRPr lang="en-US" sz="1800" dirty="0">
              <a:solidFill>
                <a:srgbClr val="001C59"/>
              </a:solidFill>
              <a:latin typeface="Arial" panose="020B0604020202020204" pitchFamily="34" charset="0"/>
              <a:cs typeface="Arial" panose="020B0604020202020204" pitchFamily="34" charset="0"/>
            </a:endParaRPr>
          </a:p>
          <a:p>
            <a:pPr lvl="0" eaLnBrk="0" fontAlgn="base" hangingPunct="0">
              <a:lnSpc>
                <a:spcPct val="100000"/>
              </a:lnSpc>
              <a:spcBef>
                <a:spcPct val="0"/>
              </a:spcBef>
              <a:spcAft>
                <a:spcPct val="0"/>
              </a:spcAft>
              <a:buClr>
                <a:schemeClr val="tx2"/>
              </a:buClr>
              <a:buSzPct val="100000"/>
            </a:pPr>
            <a:r>
              <a:rPr lang="en-US" sz="1800" dirty="0">
                <a:solidFill>
                  <a:srgbClr val="001C59"/>
                </a:solidFill>
                <a:latin typeface="Arial" panose="020B0604020202020204" pitchFamily="34" charset="0"/>
                <a:cs typeface="Arial" panose="020B0604020202020204" pitchFamily="34" charset="0"/>
              </a:rPr>
              <a:t>Provide a business plan recommendation to your CEO</a:t>
            </a:r>
          </a:p>
          <a:p>
            <a:pPr lvl="1" eaLnBrk="0" fontAlgn="base" hangingPunct="0">
              <a:lnSpc>
                <a:spcPct val="100000"/>
              </a:lnSpc>
              <a:spcBef>
                <a:spcPct val="0"/>
              </a:spcBef>
              <a:spcAft>
                <a:spcPct val="0"/>
              </a:spcAft>
              <a:buClr>
                <a:schemeClr val="tx2"/>
              </a:buClr>
              <a:buSzPct val="100000"/>
            </a:pPr>
            <a:r>
              <a:rPr lang="en-US" sz="1800" dirty="0">
                <a:solidFill>
                  <a:srgbClr val="001C59"/>
                </a:solidFill>
                <a:latin typeface="Arial" panose="020B0604020202020204" pitchFamily="34" charset="0"/>
                <a:cs typeface="Arial" panose="020B0604020202020204" pitchFamily="34" charset="0"/>
              </a:rPr>
              <a:t>Implementation guidelines on how to utilize the model and how it will impact profitability</a:t>
            </a:r>
            <a:endParaRPr lang="en-US" sz="1400" dirty="0">
              <a:solidFill>
                <a:srgbClr val="001C59"/>
              </a:solidFill>
              <a:latin typeface="Arial" panose="020B0604020202020204" pitchFamily="34" charset="0"/>
              <a:cs typeface="Arial" panose="020B0604020202020204" pitchFamily="34" charset="0"/>
            </a:endParaRPr>
          </a:p>
          <a:p>
            <a:pPr lvl="0" eaLnBrk="0" fontAlgn="base" hangingPunct="0">
              <a:lnSpc>
                <a:spcPct val="100000"/>
              </a:lnSpc>
              <a:spcBef>
                <a:spcPct val="0"/>
              </a:spcBef>
              <a:spcAft>
                <a:spcPct val="0"/>
              </a:spcAft>
              <a:buClr>
                <a:schemeClr val="tx2"/>
              </a:buClr>
              <a:buSzPct val="100000"/>
            </a:pPr>
            <a:endParaRPr lang="en-US" sz="1800" dirty="0">
              <a:solidFill>
                <a:srgbClr val="001C59"/>
              </a:solidFill>
              <a:latin typeface="Arial" panose="020B0604020202020204" pitchFamily="34" charset="0"/>
              <a:cs typeface="Arial" panose="020B0604020202020204" pitchFamily="34" charset="0"/>
            </a:endParaRPr>
          </a:p>
          <a:p>
            <a:pPr lvl="0" eaLnBrk="0" fontAlgn="base" hangingPunct="0">
              <a:lnSpc>
                <a:spcPct val="100000"/>
              </a:lnSpc>
              <a:spcBef>
                <a:spcPct val="0"/>
              </a:spcBef>
              <a:spcAft>
                <a:spcPct val="0"/>
              </a:spcAft>
              <a:buClr>
                <a:schemeClr val="tx2"/>
              </a:buClr>
              <a:buSzPct val="100000"/>
            </a:pPr>
            <a:r>
              <a:rPr lang="en-US" sz="1800" dirty="0">
                <a:solidFill>
                  <a:srgbClr val="001C59"/>
                </a:solidFill>
                <a:latin typeface="Arial" panose="020B0604020202020204" pitchFamily="34" charset="0"/>
                <a:cs typeface="Arial" panose="020B0604020202020204" pitchFamily="34" charset="0"/>
              </a:rPr>
              <a:t>Identification of the key assumptions underlying your analysis complete with support driven by data, from research, or based on intuition</a:t>
            </a:r>
          </a:p>
          <a:p>
            <a:endParaRPr lang="en-US" dirty="0"/>
          </a:p>
        </p:txBody>
      </p:sp>
      <p:sp>
        <p:nvSpPr>
          <p:cNvPr id="6" name="Footer Placeholder 4">
            <a:extLst>
              <a:ext uri="{FF2B5EF4-FFF2-40B4-BE49-F238E27FC236}">
                <a16:creationId xmlns:a16="http://schemas.microsoft.com/office/drawing/2014/main" id="{A2D9E1A4-1E3E-4F7A-A692-F5372B468A49}"/>
              </a:ext>
            </a:extLst>
          </p:cNvPr>
          <p:cNvSpPr>
            <a:spLocks noGrp="1"/>
          </p:cNvSpPr>
          <p:nvPr>
            <p:ph type="ftr" sz="quarter" idx="11"/>
          </p:nvPr>
        </p:nvSpPr>
        <p:spPr>
          <a:xfrm>
            <a:off x="4648201" y="6356350"/>
            <a:ext cx="4506558" cy="399451"/>
          </a:xfrm>
        </p:spPr>
        <p:txBody>
          <a:bodyPr/>
          <a:lstStyle/>
          <a:p>
            <a:pPr>
              <a:defRPr/>
            </a:pPr>
            <a:r>
              <a:rPr lang="en-US"/>
              <a:t>© 2022 by the Casualty Actuarial Society. All rights reserved.</a:t>
            </a:r>
          </a:p>
        </p:txBody>
      </p:sp>
    </p:spTree>
    <p:extLst>
      <p:ext uri="{BB962C8B-B14F-4D97-AF65-F5344CB8AC3E}">
        <p14:creationId xmlns:p14="http://schemas.microsoft.com/office/powerpoint/2010/main" val="1498648725"/>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4400">
                <a:solidFill>
                  <a:srgbClr val="001C59"/>
                </a:solidFill>
                <a:latin typeface="Arial" panose="020B0604020202020204" pitchFamily="34" charset="0"/>
                <a:cs typeface="Arial" panose="020B0604020202020204" pitchFamily="34" charset="0"/>
              </a:rPr>
              <a:t>Deliverables</a:t>
            </a:r>
          </a:p>
        </p:txBody>
      </p:sp>
      <p:sp>
        <p:nvSpPr>
          <p:cNvPr id="5" name="Content Placeholder 4"/>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Pct val="45000"/>
              <a:buFontTx/>
              <a:buNone/>
              <a:tabLst/>
              <a:defRPr/>
            </a:pPr>
            <a:r>
              <a:rPr kumimoji="0" lang="en-US" sz="2000" b="0" i="0" u="sng" strike="noStrike" kern="1200" cap="none" spc="0" normalizeH="0" baseline="0" noProof="0" dirty="0">
                <a:ln>
                  <a:noFill/>
                </a:ln>
                <a:solidFill>
                  <a:srgbClr val="001C59"/>
                </a:solidFill>
                <a:effectLst/>
                <a:uLnTx/>
                <a:uFillTx/>
                <a:latin typeface="Arial" panose="020B0604020202020204" pitchFamily="34" charset="0"/>
                <a:ea typeface="+mn-ea"/>
                <a:cs typeface="Arial" panose="020B0604020202020204" pitchFamily="34" charset="0"/>
              </a:rPr>
              <a:t>Your presentation should:</a:t>
            </a:r>
          </a:p>
          <a:p>
            <a:pPr marR="0" lvl="0" algn="l" defTabSz="914400" rtl="0" eaLnBrk="0" fontAlgn="base" latinLnBrk="0" hangingPunct="0">
              <a:lnSpc>
                <a:spcPct val="100000"/>
              </a:lnSpc>
              <a:spcBef>
                <a:spcPct val="0"/>
              </a:spcBef>
              <a:spcAft>
                <a:spcPct val="0"/>
              </a:spcAft>
              <a:buClr>
                <a:schemeClr val="tx1"/>
              </a:buClr>
              <a:buSzPct val="100000"/>
              <a:tabLst/>
              <a:defRPr/>
            </a:pPr>
            <a:r>
              <a:rPr kumimoji="0" lang="en-US" sz="2000" b="0" i="0" u="none" strike="noStrike" kern="1200" cap="none" spc="0" normalizeH="0" baseline="0" noProof="0" dirty="0">
                <a:ln>
                  <a:noFill/>
                </a:ln>
                <a:solidFill>
                  <a:srgbClr val="001C59"/>
                </a:solidFill>
                <a:effectLst/>
                <a:uLnTx/>
                <a:uFillTx/>
                <a:latin typeface="Arial" panose="020B0604020202020204" pitchFamily="34" charset="0"/>
                <a:ea typeface="+mn-ea"/>
                <a:cs typeface="Arial" panose="020B0604020202020204" pitchFamily="34" charset="0"/>
              </a:rPr>
              <a:t>Be well organized and concise</a:t>
            </a:r>
          </a:p>
          <a:p>
            <a:pPr marR="0" lvl="0" algn="l" defTabSz="914400" rtl="0" eaLnBrk="0" fontAlgn="base" latinLnBrk="0" hangingPunct="0">
              <a:lnSpc>
                <a:spcPct val="100000"/>
              </a:lnSpc>
              <a:spcBef>
                <a:spcPct val="0"/>
              </a:spcBef>
              <a:spcAft>
                <a:spcPct val="0"/>
              </a:spcAft>
              <a:buClr>
                <a:schemeClr val="tx1"/>
              </a:buClr>
              <a:buSzPct val="100000"/>
              <a:tabLst/>
              <a:defRPr/>
            </a:pPr>
            <a:r>
              <a:rPr kumimoji="0" lang="en-US" sz="2000" b="0" i="0" u="none" strike="noStrike" kern="1200" cap="none" spc="0" normalizeH="0" baseline="0" noProof="0" dirty="0">
                <a:ln>
                  <a:noFill/>
                </a:ln>
                <a:solidFill>
                  <a:srgbClr val="001C59"/>
                </a:solidFill>
                <a:effectLst/>
                <a:uLnTx/>
                <a:uFillTx/>
                <a:latin typeface="Arial" panose="020B0604020202020204" pitchFamily="34" charset="0"/>
                <a:ea typeface="+mn-ea"/>
                <a:cs typeface="Arial" panose="020B0604020202020204" pitchFamily="34" charset="0"/>
              </a:rPr>
              <a:t>Help demonstrate your technical knowledge of the topic </a:t>
            </a:r>
          </a:p>
          <a:p>
            <a:pPr marR="0" lvl="0" algn="l" defTabSz="914400" rtl="0" eaLnBrk="0" fontAlgn="base" latinLnBrk="0" hangingPunct="0">
              <a:lnSpc>
                <a:spcPct val="100000"/>
              </a:lnSpc>
              <a:spcBef>
                <a:spcPct val="0"/>
              </a:spcBef>
              <a:spcAft>
                <a:spcPct val="0"/>
              </a:spcAft>
              <a:buClr>
                <a:schemeClr val="tx1"/>
              </a:buClr>
              <a:buSzPct val="100000"/>
              <a:tabLst/>
              <a:defRPr/>
            </a:pPr>
            <a:r>
              <a:rPr kumimoji="0" lang="en-US" sz="2000" b="0" i="0" u="none" strike="noStrike" kern="1200" cap="none" spc="0" normalizeH="0" baseline="0" noProof="0" dirty="0">
                <a:ln>
                  <a:noFill/>
                </a:ln>
                <a:solidFill>
                  <a:srgbClr val="001C59"/>
                </a:solidFill>
                <a:effectLst/>
                <a:uLnTx/>
                <a:uFillTx/>
                <a:latin typeface="Arial" panose="020B0604020202020204" pitchFamily="34" charset="0"/>
                <a:ea typeface="+mn-ea"/>
                <a:cs typeface="Arial" panose="020B0604020202020204" pitchFamily="34" charset="0"/>
              </a:rPr>
              <a:t>Be tailored to your audience and their interests/potential concerns</a:t>
            </a:r>
          </a:p>
          <a:p>
            <a:pPr marR="0" lvl="0" algn="l" defTabSz="914400" rtl="0" eaLnBrk="0" fontAlgn="base" latinLnBrk="0" hangingPunct="0">
              <a:lnSpc>
                <a:spcPct val="100000"/>
              </a:lnSpc>
              <a:spcBef>
                <a:spcPct val="0"/>
              </a:spcBef>
              <a:spcAft>
                <a:spcPct val="0"/>
              </a:spcAft>
              <a:buClr>
                <a:schemeClr val="tx1"/>
              </a:buClr>
              <a:buSzPct val="45000"/>
              <a:tabLst/>
              <a:defRPr/>
            </a:pPr>
            <a:endParaRPr kumimoji="0" lang="en-US" sz="2000" b="0" i="0" u="sng" strike="noStrike" kern="1200" cap="none" spc="0" normalizeH="0" baseline="0" noProof="0" dirty="0">
              <a:ln>
                <a:noFill/>
              </a:ln>
              <a:solidFill>
                <a:srgbClr val="001C59"/>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
                <a:schemeClr val="tx1"/>
              </a:buClr>
              <a:buSzPct val="45000"/>
              <a:buNone/>
              <a:tabLst/>
              <a:defRPr/>
            </a:pPr>
            <a:r>
              <a:rPr kumimoji="0" lang="en-US" sz="2000" b="0" i="0" u="sng" strike="noStrike" kern="1200" cap="none" spc="0" normalizeH="0" baseline="0" noProof="0" dirty="0">
                <a:ln>
                  <a:noFill/>
                </a:ln>
                <a:solidFill>
                  <a:srgbClr val="001C59"/>
                </a:solidFill>
                <a:effectLst/>
                <a:uLnTx/>
                <a:uFillTx/>
                <a:latin typeface="Arial" panose="020B0604020202020204" pitchFamily="34" charset="0"/>
                <a:ea typeface="+mn-ea"/>
                <a:cs typeface="Arial" panose="020B0604020202020204" pitchFamily="34" charset="0"/>
              </a:rPr>
              <a:t>Presentation specifics: </a:t>
            </a:r>
          </a:p>
          <a:p>
            <a:pPr marR="0" lvl="0" algn="l" defTabSz="914400" rtl="0" eaLnBrk="0" fontAlgn="base" latinLnBrk="0" hangingPunct="0">
              <a:lnSpc>
                <a:spcPct val="100000"/>
              </a:lnSpc>
              <a:spcBef>
                <a:spcPct val="0"/>
              </a:spcBef>
              <a:spcAft>
                <a:spcPct val="0"/>
              </a:spcAft>
              <a:buClr>
                <a:schemeClr val="tx1"/>
              </a:buClr>
              <a:buSzPct val="100000"/>
              <a:tabLst/>
              <a:defRPr/>
            </a:pPr>
            <a:r>
              <a:rPr kumimoji="0" lang="en-US" sz="2000" b="0" i="0" u="none" strike="noStrike" kern="1200" cap="none" spc="0" normalizeH="0" baseline="0" noProof="0" dirty="0">
                <a:ln>
                  <a:noFill/>
                </a:ln>
                <a:solidFill>
                  <a:srgbClr val="001C59"/>
                </a:solidFill>
                <a:effectLst/>
                <a:uLnTx/>
                <a:uFillTx/>
                <a:latin typeface="Arial" panose="020B0604020202020204" pitchFamily="34" charset="0"/>
                <a:ea typeface="+mn-ea"/>
                <a:cs typeface="Arial" panose="020B0604020202020204" pitchFamily="34" charset="0"/>
              </a:rPr>
              <a:t>Target 5 minutes for the presentation </a:t>
            </a:r>
          </a:p>
          <a:p>
            <a:pPr marR="0" lvl="0" algn="l" defTabSz="914400" rtl="0" eaLnBrk="0" fontAlgn="base" latinLnBrk="0" hangingPunct="0">
              <a:lnSpc>
                <a:spcPct val="100000"/>
              </a:lnSpc>
              <a:spcBef>
                <a:spcPct val="0"/>
              </a:spcBef>
              <a:spcAft>
                <a:spcPct val="0"/>
              </a:spcAft>
              <a:buClr>
                <a:schemeClr val="tx1"/>
              </a:buClr>
              <a:buSzPct val="100000"/>
              <a:tabLst/>
              <a:defRPr/>
            </a:pPr>
            <a:r>
              <a:rPr kumimoji="0" lang="en-US" sz="2000" b="0" i="0" u="none" strike="noStrike" kern="1200" cap="none" spc="0" normalizeH="0" baseline="0" noProof="0" dirty="0">
                <a:ln>
                  <a:noFill/>
                </a:ln>
                <a:solidFill>
                  <a:srgbClr val="001C59"/>
                </a:solidFill>
                <a:effectLst/>
                <a:uLnTx/>
                <a:uFillTx/>
                <a:latin typeface="Arial" panose="020B0604020202020204" pitchFamily="34" charset="0"/>
                <a:ea typeface="+mn-ea"/>
                <a:cs typeface="Arial" panose="020B0604020202020204" pitchFamily="34" charset="0"/>
              </a:rPr>
              <a:t>Expect 5 minutes of Q&amp;A (for the finale)</a:t>
            </a:r>
          </a:p>
          <a:p>
            <a:pPr marR="0" lvl="0" algn="l" defTabSz="914400" rtl="0" eaLnBrk="0" fontAlgn="base" latinLnBrk="0" hangingPunct="0">
              <a:lnSpc>
                <a:spcPct val="100000"/>
              </a:lnSpc>
              <a:spcBef>
                <a:spcPct val="0"/>
              </a:spcBef>
              <a:spcAft>
                <a:spcPct val="0"/>
              </a:spcAft>
              <a:buClr>
                <a:schemeClr val="tx1"/>
              </a:buClr>
              <a:buSzPct val="100000"/>
              <a:tabLst/>
              <a:defRPr/>
            </a:pPr>
            <a:r>
              <a:rPr kumimoji="0" lang="en-US" sz="2000" b="0" i="0" u="none" strike="noStrike" kern="1200" cap="none" spc="0" normalizeH="0" baseline="0" noProof="0" dirty="0">
                <a:ln>
                  <a:noFill/>
                </a:ln>
                <a:solidFill>
                  <a:srgbClr val="001C59"/>
                </a:solidFill>
                <a:effectLst/>
                <a:uLnTx/>
                <a:uFillTx/>
                <a:latin typeface="Arial" panose="020B0604020202020204" pitchFamily="34" charset="0"/>
                <a:ea typeface="+mn-ea"/>
                <a:cs typeface="Arial" panose="020B0604020202020204" pitchFamily="34" charset="0"/>
              </a:rPr>
              <a:t>Visualizations are strongly encouraged</a:t>
            </a:r>
          </a:p>
          <a:p>
            <a:pPr marL="0" marR="0" lvl="0" indent="0" algn="l" defTabSz="914400" rtl="0" eaLnBrk="0" fontAlgn="base" latinLnBrk="0" hangingPunct="0">
              <a:lnSpc>
                <a:spcPct val="100000"/>
              </a:lnSpc>
              <a:spcBef>
                <a:spcPct val="0"/>
              </a:spcBef>
              <a:spcAft>
                <a:spcPct val="0"/>
              </a:spcAft>
              <a:buClrTx/>
              <a:buSzPct val="45000"/>
              <a:buFontTx/>
              <a:buNone/>
              <a:tabLst/>
              <a:defRPr/>
            </a:pPr>
            <a:endParaRPr kumimoji="0" lang="en-US" sz="2000" b="0" i="0" u="none" strike="noStrike" kern="1200" cap="none" spc="0" normalizeH="0" baseline="0" noProof="0" dirty="0">
              <a:ln>
                <a:noFill/>
              </a:ln>
              <a:solidFill>
                <a:srgbClr val="001C59"/>
              </a:solidFill>
              <a:effectLst/>
              <a:uLnTx/>
              <a:uFillTx/>
              <a:latin typeface="Arial" panose="020B0604020202020204" pitchFamily="34" charset="0"/>
              <a:ea typeface="+mn-ea"/>
              <a:cs typeface="Arial" panose="020B0604020202020204" pitchFamily="34" charset="0"/>
            </a:endParaRPr>
          </a:p>
          <a:p>
            <a:pPr marL="0" indent="0">
              <a:buNone/>
            </a:pPr>
            <a:endParaRPr lang="en-US" dirty="0"/>
          </a:p>
        </p:txBody>
      </p:sp>
      <p:sp>
        <p:nvSpPr>
          <p:cNvPr id="6" name="Footer Placeholder 4">
            <a:extLst>
              <a:ext uri="{FF2B5EF4-FFF2-40B4-BE49-F238E27FC236}">
                <a16:creationId xmlns:a16="http://schemas.microsoft.com/office/drawing/2014/main" id="{01DFFC0F-696F-4492-9FC9-47F440BAAA5D}"/>
              </a:ext>
            </a:extLst>
          </p:cNvPr>
          <p:cNvSpPr>
            <a:spLocks noGrp="1"/>
          </p:cNvSpPr>
          <p:nvPr>
            <p:ph type="ftr" sz="quarter" idx="11"/>
          </p:nvPr>
        </p:nvSpPr>
        <p:spPr>
          <a:xfrm>
            <a:off x="4648201" y="6356351"/>
            <a:ext cx="4581860" cy="501649"/>
          </a:xfrm>
        </p:spPr>
        <p:txBody>
          <a:bodyPr/>
          <a:lstStyle/>
          <a:p>
            <a:pPr>
              <a:defRPr/>
            </a:pPr>
            <a:r>
              <a:rPr lang="en-US"/>
              <a:t>© 2022 by the Casualty Actuarial Society. All rights reserved.</a:t>
            </a:r>
          </a:p>
        </p:txBody>
      </p:sp>
    </p:spTree>
    <p:extLst>
      <p:ext uri="{BB962C8B-B14F-4D97-AF65-F5344CB8AC3E}">
        <p14:creationId xmlns:p14="http://schemas.microsoft.com/office/powerpoint/2010/main" val="1077632189"/>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4400">
                <a:latin typeface="Arial"/>
                <a:cs typeface="Arial"/>
              </a:rPr>
              <a:t>Supporting Materials</a:t>
            </a:r>
            <a:r>
              <a:rPr lang="en-US">
                <a:latin typeface="Arial"/>
                <a:cs typeface="Arial"/>
              </a:rPr>
              <a:t> &amp; Resources</a:t>
            </a:r>
            <a:endParaRPr lang="en-US"/>
          </a:p>
        </p:txBody>
      </p:sp>
      <p:sp>
        <p:nvSpPr>
          <p:cNvPr id="5" name="Content Placeholder 4"/>
          <p:cNvSpPr>
            <a:spLocks noGrp="1"/>
          </p:cNvSpPr>
          <p:nvPr>
            <p:ph idx="1"/>
          </p:nvPr>
        </p:nvSpPr>
        <p:spPr/>
        <p:txBody>
          <a:bodyPr vert="horz" lIns="91440" tIns="45720" rIns="91440" bIns="45720" rtlCol="0" anchor="t">
            <a:normAutofit fontScale="92500" lnSpcReduction="20000"/>
          </a:bodyPr>
          <a:lstStyle/>
          <a:p>
            <a:pPr marL="0" indent="0">
              <a:buNone/>
            </a:pPr>
            <a:r>
              <a:rPr lang="en-US" altLang="en-US" sz="2600" b="1">
                <a:solidFill>
                  <a:srgbClr val="001C59"/>
                </a:solidFill>
                <a:latin typeface="Arial" panose="020B0604020202020204" pitchFamily="34" charset="0"/>
                <a:cs typeface="Arial" panose="020B0604020202020204" pitchFamily="34" charset="0"/>
              </a:rPr>
              <a:t>Case</a:t>
            </a:r>
          </a:p>
          <a:p>
            <a:pPr lvl="1">
              <a:buClr>
                <a:schemeClr val="tx1"/>
              </a:buClr>
            </a:pPr>
            <a:r>
              <a:rPr lang="en-US" altLang="en-US">
                <a:latin typeface="Arial" panose="020B0604020202020204" pitchFamily="34" charset="0"/>
                <a:cs typeface="Arial" panose="020B0604020202020204" pitchFamily="34" charset="0"/>
              </a:rPr>
              <a:t>Background/Charge</a:t>
            </a:r>
          </a:p>
          <a:p>
            <a:pPr lvl="1">
              <a:buClr>
                <a:schemeClr val="tx1"/>
              </a:buClr>
            </a:pPr>
            <a:r>
              <a:rPr lang="en-US" altLang="en-US">
                <a:latin typeface="Arial" panose="020B0604020202020204" pitchFamily="34" charset="0"/>
                <a:cs typeface="Arial" panose="020B0604020202020204" pitchFamily="34" charset="0"/>
              </a:rPr>
              <a:t>Deliverables</a:t>
            </a:r>
          </a:p>
          <a:p>
            <a:pPr lvl="1">
              <a:buClr>
                <a:schemeClr val="tx1"/>
              </a:buClr>
            </a:pPr>
            <a:r>
              <a:rPr lang="en-US" altLang="en-US">
                <a:latin typeface="Arial" panose="020B0604020202020204" pitchFamily="34" charset="0"/>
                <a:cs typeface="Arial" panose="020B0604020202020204" pitchFamily="34" charset="0"/>
              </a:rPr>
              <a:t>Suggested Resources</a:t>
            </a:r>
          </a:p>
          <a:p>
            <a:pPr lvl="1">
              <a:buClr>
                <a:schemeClr val="tx1"/>
              </a:buClr>
            </a:pPr>
            <a:r>
              <a:rPr lang="en-US" altLang="en-US">
                <a:latin typeface="Arial" panose="020B0604020202020204" pitchFamily="34" charset="0"/>
                <a:cs typeface="Arial" panose="020B0604020202020204" pitchFamily="34" charset="0"/>
              </a:rPr>
              <a:t>Glossary of Terms and Definitions</a:t>
            </a:r>
          </a:p>
          <a:p>
            <a:pPr lvl="1">
              <a:buClr>
                <a:schemeClr val="tx1"/>
              </a:buClr>
            </a:pPr>
            <a:endParaRPr lang="en-US" altLang="en-US">
              <a:latin typeface="Arial" panose="020B0604020202020204" pitchFamily="34" charset="0"/>
              <a:cs typeface="Arial" panose="020B0604020202020204" pitchFamily="34" charset="0"/>
            </a:endParaRPr>
          </a:p>
          <a:p>
            <a:pPr>
              <a:buClr>
                <a:schemeClr val="tx1"/>
              </a:buClr>
            </a:pPr>
            <a:r>
              <a:rPr lang="en-US" altLang="en-US" sz="2600" b="1">
                <a:solidFill>
                  <a:srgbClr val="001C59"/>
                </a:solidFill>
                <a:latin typeface="Arial" panose="020B0604020202020204" pitchFamily="34" charset="0"/>
                <a:cs typeface="Arial" panose="020B0604020202020204" pitchFamily="34" charset="0"/>
              </a:rPr>
              <a:t>Case Data &amp; Workbook</a:t>
            </a:r>
          </a:p>
          <a:p>
            <a:pPr lvl="1">
              <a:buClr>
                <a:schemeClr val="tx1"/>
              </a:buClr>
            </a:pPr>
            <a:r>
              <a:rPr lang="en-US" altLang="en-US">
                <a:latin typeface="Arial" panose="020B0604020202020204" pitchFamily="34" charset="0"/>
                <a:cs typeface="Arial" panose="020B0604020202020204" pitchFamily="34" charset="0"/>
              </a:rPr>
              <a:t>10,000 customers with varying degrees of risk</a:t>
            </a:r>
          </a:p>
          <a:p>
            <a:pPr lvl="1">
              <a:buClr>
                <a:schemeClr val="tx1"/>
              </a:buClr>
            </a:pPr>
            <a:r>
              <a:rPr lang="en-US" altLang="en-US">
                <a:latin typeface="Arial" panose="020B0604020202020204" pitchFamily="34" charset="0"/>
                <a:cs typeface="Arial" panose="020B0604020202020204" pitchFamily="34" charset="0"/>
              </a:rPr>
              <a:t>Claim History</a:t>
            </a:r>
          </a:p>
          <a:p>
            <a:pPr lvl="1">
              <a:buClr>
                <a:schemeClr val="tx1"/>
              </a:buClr>
            </a:pPr>
            <a:r>
              <a:rPr lang="en-US" altLang="en-US">
                <a:latin typeface="Arial" panose="020B0604020202020204" pitchFamily="34" charset="0"/>
                <a:cs typeface="Arial" panose="020B0604020202020204" pitchFamily="34" charset="0"/>
              </a:rPr>
              <a:t>Information about the dorm (e.g. distance to school)</a:t>
            </a:r>
          </a:p>
          <a:p>
            <a:pPr lvl="1">
              <a:buClr>
                <a:schemeClr val="tx1"/>
              </a:buClr>
            </a:pPr>
            <a:r>
              <a:rPr lang="en-US" altLang="en-US">
                <a:latin typeface="Arial" panose="020B0604020202020204" pitchFamily="34" charset="0"/>
                <a:cs typeface="Arial" panose="020B0604020202020204" pitchFamily="34" charset="0"/>
              </a:rPr>
              <a:t>Information about the student (e.g. GPA)</a:t>
            </a:r>
          </a:p>
          <a:p>
            <a:pPr lvl="1">
              <a:buFont typeface="Arial" panose="020B0604020202020204" pitchFamily="34" charset="0"/>
              <a:buChar char="•"/>
            </a:pPr>
            <a:endParaRPr lang="en-US" altLang="en-US">
              <a:latin typeface="Arial" panose="020B0604020202020204" pitchFamily="34" charset="0"/>
              <a:cs typeface="Arial" panose="020B0604020202020204" pitchFamily="34" charset="0"/>
            </a:endParaRPr>
          </a:p>
          <a:p>
            <a:pPr marL="0" indent="0">
              <a:buNone/>
            </a:pPr>
            <a:r>
              <a:rPr lang="en-US" altLang="en-US" sz="2600" b="1">
                <a:solidFill>
                  <a:srgbClr val="001C59"/>
                </a:solidFill>
                <a:latin typeface="Arial" panose="020B0604020202020204" pitchFamily="34" charset="0"/>
                <a:cs typeface="Arial" panose="020B0604020202020204" pitchFamily="34" charset="0"/>
              </a:rPr>
              <a:t>Competition Rubric</a:t>
            </a:r>
          </a:p>
          <a:p>
            <a:endParaRPr lang="en-US"/>
          </a:p>
        </p:txBody>
      </p:sp>
      <p:sp>
        <p:nvSpPr>
          <p:cNvPr id="6" name="Footer Placeholder 4">
            <a:extLst>
              <a:ext uri="{FF2B5EF4-FFF2-40B4-BE49-F238E27FC236}">
                <a16:creationId xmlns:a16="http://schemas.microsoft.com/office/drawing/2014/main" id="{E5935E89-1B9E-4DC2-847A-0A6E955A55A6}"/>
              </a:ext>
            </a:extLst>
          </p:cNvPr>
          <p:cNvSpPr>
            <a:spLocks noGrp="1"/>
          </p:cNvSpPr>
          <p:nvPr>
            <p:ph type="ftr" sz="quarter" idx="11"/>
          </p:nvPr>
        </p:nvSpPr>
        <p:spPr>
          <a:xfrm>
            <a:off x="4648201" y="6356350"/>
            <a:ext cx="4538830" cy="501649"/>
          </a:xfrm>
        </p:spPr>
        <p:txBody>
          <a:bodyPr/>
          <a:lstStyle/>
          <a:p>
            <a:pPr>
              <a:defRPr/>
            </a:pPr>
            <a:r>
              <a:rPr lang="en-US"/>
              <a:t>© 2022 by the Casualty Actuarial Society. All rights reserved.</a:t>
            </a:r>
          </a:p>
        </p:txBody>
      </p:sp>
    </p:spTree>
    <p:extLst>
      <p:ext uri="{BB962C8B-B14F-4D97-AF65-F5344CB8AC3E}">
        <p14:creationId xmlns:p14="http://schemas.microsoft.com/office/powerpoint/2010/main" val="1269394822"/>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A82C6-7149-4F29-9CDF-36A2B3FA25FE}"/>
              </a:ext>
            </a:extLst>
          </p:cNvPr>
          <p:cNvSpPr>
            <a:spLocks noGrp="1"/>
          </p:cNvSpPr>
          <p:nvPr>
            <p:ph type="title"/>
          </p:nvPr>
        </p:nvSpPr>
        <p:spPr/>
        <p:txBody>
          <a:bodyPr/>
          <a:lstStyle/>
          <a:p>
            <a:r>
              <a:rPr lang="en-US" dirty="0">
                <a:latin typeface="Arial"/>
                <a:cs typeface="Arial"/>
              </a:rPr>
              <a:t>Expectations: Competition Rubric</a:t>
            </a:r>
            <a:endParaRPr lang="en-US" dirty="0"/>
          </a:p>
        </p:txBody>
      </p:sp>
      <p:graphicFrame>
        <p:nvGraphicFramePr>
          <p:cNvPr id="6" name="Table 6">
            <a:extLst>
              <a:ext uri="{FF2B5EF4-FFF2-40B4-BE49-F238E27FC236}">
                <a16:creationId xmlns:a16="http://schemas.microsoft.com/office/drawing/2014/main" id="{0E349DE2-CAC8-438F-94C8-745937404388}"/>
              </a:ext>
            </a:extLst>
          </p:cNvPr>
          <p:cNvGraphicFramePr>
            <a:graphicFrameLocks noGrp="1"/>
          </p:cNvGraphicFramePr>
          <p:nvPr>
            <p:ph idx="1"/>
            <p:extLst>
              <p:ext uri="{D42A27DB-BD31-4B8C-83A1-F6EECF244321}">
                <p14:modId xmlns:p14="http://schemas.microsoft.com/office/powerpoint/2010/main" val="1452598068"/>
              </p:ext>
            </p:extLst>
          </p:nvPr>
        </p:nvGraphicFramePr>
        <p:xfrm>
          <a:off x="1200462" y="1525822"/>
          <a:ext cx="10515599" cy="5125720"/>
        </p:xfrm>
        <a:graphic>
          <a:graphicData uri="http://schemas.openxmlformats.org/drawingml/2006/table">
            <a:tbl>
              <a:tblPr firstRow="1" bandRow="1">
                <a:tableStyleId>{5C22544A-7EE6-4342-B048-85BDC9FD1C3A}</a:tableStyleId>
              </a:tblPr>
              <a:tblGrid>
                <a:gridCol w="2116111">
                  <a:extLst>
                    <a:ext uri="{9D8B030D-6E8A-4147-A177-3AD203B41FA5}">
                      <a16:colId xmlns:a16="http://schemas.microsoft.com/office/drawing/2014/main" val="843370676"/>
                    </a:ext>
                  </a:extLst>
                </a:gridCol>
                <a:gridCol w="8399488">
                  <a:extLst>
                    <a:ext uri="{9D8B030D-6E8A-4147-A177-3AD203B41FA5}">
                      <a16:colId xmlns:a16="http://schemas.microsoft.com/office/drawing/2014/main" val="783382854"/>
                    </a:ext>
                  </a:extLst>
                </a:gridCol>
              </a:tblGrid>
              <a:tr h="370840">
                <a:tc>
                  <a:txBody>
                    <a:bodyPr/>
                    <a:lstStyle/>
                    <a:p>
                      <a:pPr marL="0" lvl="0" algn="l" defTabSz="914400" rtl="0" eaLnBrk="1" latinLnBrk="0" hangingPunct="1">
                        <a:buNone/>
                      </a:pPr>
                      <a:r>
                        <a:rPr lang="en-US" sz="1800" kern="1200" dirty="0">
                          <a:solidFill>
                            <a:schemeClr val="tx1"/>
                          </a:solidFill>
                          <a:latin typeface="+mn-lt"/>
                          <a:ea typeface="+mn-ea"/>
                          <a:cs typeface="+mn-cs"/>
                        </a:rPr>
                        <a:t>Category</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lumMod val="75000"/>
                      </a:schemeClr>
                    </a:solidFill>
                  </a:tcPr>
                </a:tc>
                <a:tc>
                  <a:txBody>
                    <a:bodyPr/>
                    <a:lstStyle/>
                    <a:p>
                      <a:pPr marL="0" lvl="0" algn="l" rtl="0" eaLnBrk="1" latinLnBrk="0" hangingPunct="1">
                        <a:buNone/>
                      </a:pPr>
                      <a:r>
                        <a:rPr lang="en-US" sz="1800" kern="1200" dirty="0">
                          <a:solidFill>
                            <a:schemeClr val="tx1"/>
                          </a:solidFill>
                          <a:latin typeface="+mn-lt"/>
                          <a:ea typeface="+mn-ea"/>
                          <a:cs typeface="+mn-cs"/>
                        </a:rPr>
                        <a:t>Description of Category</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lumMod val="75000"/>
                      </a:schemeClr>
                    </a:solidFill>
                  </a:tcPr>
                </a:tc>
                <a:extLst>
                  <a:ext uri="{0D108BD9-81ED-4DB2-BD59-A6C34878D82A}">
                    <a16:rowId xmlns:a16="http://schemas.microsoft.com/office/drawing/2014/main" val="4286985856"/>
                  </a:ext>
                </a:extLst>
              </a:tr>
              <a:tr h="370840">
                <a:tc>
                  <a:txBody>
                    <a:bodyPr/>
                    <a:lstStyle/>
                    <a:p>
                      <a:pPr lvl="0">
                        <a:buNone/>
                      </a:pPr>
                      <a:r>
                        <a:rPr lang="en-US" dirty="0"/>
                        <a:t>Presentation Skills</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800" b="0" i="0" u="none" strike="noStrike" noProof="0" dirty="0">
                          <a:latin typeface="Calibri"/>
                        </a:rPr>
                        <a:t>This is an important skill not just for actuaries, but for anyone who will be working in a business setting. The participant will be graded on general presentation skills, clarity of presentation, and demonstration of technical knowledge of the topic.</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445890281"/>
                  </a:ext>
                </a:extLst>
              </a:tr>
              <a:tr h="370840">
                <a:tc>
                  <a:txBody>
                    <a:bodyPr/>
                    <a:lstStyle/>
                    <a:p>
                      <a:r>
                        <a:rPr lang="en-US" dirty="0"/>
                        <a:t>Technical Analysis</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800" b="0" i="0" u="none" strike="noStrike" noProof="0" dirty="0">
                          <a:latin typeface="Calibri"/>
                        </a:rPr>
                        <a:t>The participant should demonstrate proper usage of the data, think critically about the problem at hand, and make reasonable additional assumptions as needed. The analysis should be clear and well-documented, and sound from an actuarial perspective. Assumptions should be explained and be reasonable.</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45660930"/>
                  </a:ext>
                </a:extLst>
              </a:tr>
              <a:tr h="370840">
                <a:tc>
                  <a:txBody>
                    <a:bodyPr/>
                    <a:lstStyle/>
                    <a:p>
                      <a:pPr lvl="0">
                        <a:buNone/>
                      </a:pPr>
                      <a:r>
                        <a:rPr lang="en-US" dirty="0"/>
                        <a:t>Use of Tools</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800" b="0" i="0" u="none" strike="noStrike" noProof="0" dirty="0">
                          <a:latin typeface="Calibri"/>
                        </a:rPr>
                        <a:t>Participants may have a number of options for tools at their disposal. Each participant should choose an appropriate tool for the task at hand and justify their selection. They should demonstrate appropriate usage of the capabilities of their chosen tools.  </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555867841"/>
                  </a:ext>
                </a:extLst>
              </a:tr>
              <a:tr h="370840">
                <a:tc>
                  <a:txBody>
                    <a:bodyPr/>
                    <a:lstStyle/>
                    <a:p>
                      <a:pPr lvl="0">
                        <a:buNone/>
                      </a:pPr>
                      <a:r>
                        <a:rPr lang="en-US" dirty="0"/>
                        <a:t>Business Knowledge</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800" b="0" i="0" u="none" strike="noStrike" noProof="0" dirty="0">
                          <a:latin typeface="Calibri"/>
                        </a:rPr>
                        <a:t>In addition to demonstrating an understanding of the techniques used in the analysis, the participant should understand the impact of their analysis from the perspective of the business. The participant should make business recommendations based on their analysis. Additional recommendations not directly rooted in the technical analysis may further demonstrate business acumen. The case study lists additional considerations that should be discussed; these considerations should be touched on at the very least.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907317169"/>
                  </a:ext>
                </a:extLst>
              </a:tr>
            </a:tbl>
          </a:graphicData>
        </a:graphic>
      </p:graphicFrame>
    </p:spTree>
    <p:extLst>
      <p:ext uri="{BB962C8B-B14F-4D97-AF65-F5344CB8AC3E}">
        <p14:creationId xmlns:p14="http://schemas.microsoft.com/office/powerpoint/2010/main" val="3968293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BFAA-097B-4963-A832-9C0B635467C2}"/>
              </a:ext>
            </a:extLst>
          </p:cNvPr>
          <p:cNvSpPr>
            <a:spLocks noGrp="1"/>
          </p:cNvSpPr>
          <p:nvPr>
            <p:ph type="title"/>
          </p:nvPr>
        </p:nvSpPr>
        <p:spPr>
          <a:xfrm>
            <a:off x="2634953" y="2766218"/>
            <a:ext cx="6922093" cy="1325563"/>
          </a:xfrm>
        </p:spPr>
        <p:txBody>
          <a:bodyPr>
            <a:normAutofit/>
          </a:bodyPr>
          <a:lstStyle/>
          <a:p>
            <a:pPr algn="ctr"/>
            <a:r>
              <a:rPr lang="en-US">
                <a:latin typeface="Arial"/>
                <a:cs typeface="Arial"/>
              </a:rPr>
              <a:t>Tips for Case Competition Success</a:t>
            </a:r>
          </a:p>
        </p:txBody>
      </p:sp>
      <p:sp>
        <p:nvSpPr>
          <p:cNvPr id="3" name="Footer Placeholder 2">
            <a:extLst>
              <a:ext uri="{FF2B5EF4-FFF2-40B4-BE49-F238E27FC236}">
                <a16:creationId xmlns:a16="http://schemas.microsoft.com/office/drawing/2014/main" id="{5964678C-755F-40A8-9495-EE6CC9794E32}"/>
              </a:ext>
            </a:extLst>
          </p:cNvPr>
          <p:cNvSpPr>
            <a:spLocks noGrp="1"/>
          </p:cNvSpPr>
          <p:nvPr>
            <p:ph type="ftr" sz="quarter" idx="11"/>
          </p:nvPr>
        </p:nvSpPr>
        <p:spPr>
          <a:xfrm>
            <a:off x="4038599" y="6356350"/>
            <a:ext cx="4589033" cy="41021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Neue Haas Grotesk Text Pro" panose="020B0504020202020204" pitchFamily="34" charset="0"/>
                <a:ea typeface="+mn-ea"/>
                <a:cs typeface="+mn-cs"/>
              </a:rPr>
              <a:t>© 2022 by the Casualty Actuarial Society. All rights reserved.</a:t>
            </a:r>
          </a:p>
        </p:txBody>
      </p:sp>
    </p:spTree>
    <p:extLst>
      <p:ext uri="{BB962C8B-B14F-4D97-AF65-F5344CB8AC3E}">
        <p14:creationId xmlns:p14="http://schemas.microsoft.com/office/powerpoint/2010/main" val="184052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BFAA-097B-4963-A832-9C0B635467C2}"/>
              </a:ext>
            </a:extLst>
          </p:cNvPr>
          <p:cNvSpPr>
            <a:spLocks noGrp="1"/>
          </p:cNvSpPr>
          <p:nvPr>
            <p:ph type="title"/>
          </p:nvPr>
        </p:nvSpPr>
        <p:spPr/>
        <p:txBody>
          <a:bodyPr/>
          <a:lstStyle/>
          <a:p>
            <a:r>
              <a:rPr lang="en-US">
                <a:latin typeface="Arial"/>
                <a:cs typeface="Arial"/>
              </a:rPr>
              <a:t>The Team</a:t>
            </a:r>
          </a:p>
        </p:txBody>
      </p:sp>
      <p:sp>
        <p:nvSpPr>
          <p:cNvPr id="3" name="Content Placeholder 2">
            <a:extLst>
              <a:ext uri="{FF2B5EF4-FFF2-40B4-BE49-F238E27FC236}">
                <a16:creationId xmlns:a16="http://schemas.microsoft.com/office/drawing/2014/main" id="{BEA1C1C1-2F74-4451-8C12-E5C5677F65BD}"/>
              </a:ext>
            </a:extLst>
          </p:cNvPr>
          <p:cNvSpPr>
            <a:spLocks noGrp="1"/>
          </p:cNvSpPr>
          <p:nvPr>
            <p:ph idx="1"/>
          </p:nvPr>
        </p:nvSpPr>
        <p:spPr>
          <a:xfrm>
            <a:off x="838200" y="1825624"/>
            <a:ext cx="10515600" cy="4621358"/>
          </a:xfrm>
        </p:spPr>
        <p:txBody>
          <a:bodyPr vert="horz" lIns="91440" tIns="45720" rIns="91440" bIns="45720" rtlCol="0" anchor="t">
            <a:normAutofit fontScale="70000" lnSpcReduction="20000"/>
          </a:bodyPr>
          <a:lstStyle/>
          <a:p>
            <a:r>
              <a:rPr lang="en-US">
                <a:latin typeface="Arial"/>
                <a:cs typeface="Arial"/>
              </a:rPr>
              <a:t>Get to know each other</a:t>
            </a:r>
          </a:p>
          <a:p>
            <a:pPr lvl="1"/>
            <a:r>
              <a:rPr lang="en-US" sz="2600">
                <a:latin typeface="Arial"/>
                <a:cs typeface="Arial"/>
              </a:rPr>
              <a:t>Interests &amp; strengths</a:t>
            </a:r>
          </a:p>
          <a:p>
            <a:pPr lvl="1"/>
            <a:endParaRPr lang="en-US">
              <a:latin typeface="Arial"/>
              <a:cs typeface="Arial"/>
            </a:endParaRPr>
          </a:p>
          <a:p>
            <a:r>
              <a:rPr lang="en-US">
                <a:latin typeface="Arial"/>
                <a:cs typeface="Arial"/>
              </a:rPr>
              <a:t>Develop a game plan together</a:t>
            </a:r>
          </a:p>
          <a:p>
            <a:pPr lvl="1"/>
            <a:r>
              <a:rPr lang="en-US" sz="2600">
                <a:latin typeface="Arial"/>
                <a:cs typeface="Arial"/>
              </a:rPr>
              <a:t>Familiarize yourself with the case early</a:t>
            </a:r>
          </a:p>
          <a:p>
            <a:pPr lvl="1"/>
            <a:r>
              <a:rPr lang="en-US" sz="2600">
                <a:latin typeface="Arial"/>
                <a:cs typeface="Arial"/>
              </a:rPr>
              <a:t>Assign responsibilities and set deadlines</a:t>
            </a:r>
          </a:p>
          <a:p>
            <a:pPr lvl="1"/>
            <a:r>
              <a:rPr lang="en-US" sz="2600">
                <a:latin typeface="Arial"/>
                <a:cs typeface="Arial"/>
              </a:rPr>
              <a:t>Have regular touchpoints</a:t>
            </a:r>
          </a:p>
          <a:p>
            <a:pPr lvl="1"/>
            <a:r>
              <a:rPr lang="en-US" sz="2600">
                <a:latin typeface="Arial"/>
                <a:cs typeface="Arial"/>
              </a:rPr>
              <a:t>Don’t be afraid to adjust the plan as you go</a:t>
            </a:r>
          </a:p>
          <a:p>
            <a:pPr lvl="1"/>
            <a:endParaRPr lang="en-US">
              <a:latin typeface="Arial"/>
              <a:cs typeface="Arial"/>
            </a:endParaRPr>
          </a:p>
          <a:p>
            <a:r>
              <a:rPr lang="en-US">
                <a:latin typeface="Arial"/>
                <a:cs typeface="Arial"/>
              </a:rPr>
              <a:t>Support each other</a:t>
            </a:r>
          </a:p>
          <a:p>
            <a:pPr lvl="1"/>
            <a:r>
              <a:rPr lang="en-US" sz="2600">
                <a:latin typeface="Arial"/>
                <a:cs typeface="Arial"/>
              </a:rPr>
              <a:t>Bounce ideas off each other</a:t>
            </a:r>
          </a:p>
          <a:p>
            <a:pPr lvl="1"/>
            <a:r>
              <a:rPr lang="en-US" sz="2600">
                <a:latin typeface="Arial"/>
                <a:cs typeface="Arial"/>
              </a:rPr>
              <a:t>Overcome obstacles together</a:t>
            </a:r>
          </a:p>
          <a:p>
            <a:pPr lvl="1"/>
            <a:endParaRPr lang="en-US">
              <a:latin typeface="Arial"/>
              <a:cs typeface="Arial"/>
            </a:endParaRPr>
          </a:p>
          <a:p>
            <a:r>
              <a:rPr lang="en-US">
                <a:latin typeface="Arial"/>
                <a:cs typeface="Arial"/>
              </a:rPr>
              <a:t>Don’t work in a silo</a:t>
            </a:r>
          </a:p>
          <a:p>
            <a:endParaRPr lang="en-US">
              <a:latin typeface="Arial"/>
              <a:cs typeface="Arial"/>
            </a:endParaRPr>
          </a:p>
          <a:p>
            <a:r>
              <a:rPr lang="en-US">
                <a:latin typeface="Arial"/>
                <a:cs typeface="Arial"/>
              </a:rPr>
              <a:t>Communicate, communicate, communicate</a:t>
            </a:r>
          </a:p>
        </p:txBody>
      </p:sp>
      <p:sp>
        <p:nvSpPr>
          <p:cNvPr id="4" name="Footer Placeholder 3">
            <a:extLst>
              <a:ext uri="{FF2B5EF4-FFF2-40B4-BE49-F238E27FC236}">
                <a16:creationId xmlns:a16="http://schemas.microsoft.com/office/drawing/2014/main" id="{02A039E7-F27D-48A0-9CF2-D8C3E8FD7476}"/>
              </a:ext>
            </a:extLst>
          </p:cNvPr>
          <p:cNvSpPr>
            <a:spLocks noGrp="1"/>
          </p:cNvSpPr>
          <p:nvPr>
            <p:ph type="ftr" sz="quarter" idx="11"/>
          </p:nvPr>
        </p:nvSpPr>
        <p:spPr>
          <a:xfrm>
            <a:off x="4038600" y="6356350"/>
            <a:ext cx="4567518" cy="41021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Neue Haas Grotesk Text Pro" panose="020B0504020202020204" pitchFamily="34" charset="0"/>
                <a:ea typeface="+mn-ea"/>
                <a:cs typeface="+mn-cs"/>
              </a:rPr>
              <a:t>© 2022 by the Casualty Actuarial Society. All rights reserved.</a:t>
            </a:r>
          </a:p>
        </p:txBody>
      </p:sp>
    </p:spTree>
    <p:extLst>
      <p:ext uri="{BB962C8B-B14F-4D97-AF65-F5344CB8AC3E}">
        <p14:creationId xmlns:p14="http://schemas.microsoft.com/office/powerpoint/2010/main" val="4215304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BFAA-097B-4963-A832-9C0B635467C2}"/>
              </a:ext>
            </a:extLst>
          </p:cNvPr>
          <p:cNvSpPr>
            <a:spLocks noGrp="1"/>
          </p:cNvSpPr>
          <p:nvPr>
            <p:ph type="title"/>
          </p:nvPr>
        </p:nvSpPr>
        <p:spPr/>
        <p:txBody>
          <a:bodyPr/>
          <a:lstStyle/>
          <a:p>
            <a:r>
              <a:rPr lang="en-US" sz="4400">
                <a:solidFill>
                  <a:srgbClr val="001C59"/>
                </a:solidFill>
                <a:latin typeface="Arial" panose="020B0604020202020204" pitchFamily="34" charset="0"/>
                <a:cs typeface="Arial" panose="020B0604020202020204" pitchFamily="34" charset="0"/>
              </a:rPr>
              <a:t>The Analysis</a:t>
            </a:r>
          </a:p>
        </p:txBody>
      </p:sp>
      <p:sp>
        <p:nvSpPr>
          <p:cNvPr id="3" name="Content Placeholder 2">
            <a:extLst>
              <a:ext uri="{FF2B5EF4-FFF2-40B4-BE49-F238E27FC236}">
                <a16:creationId xmlns:a16="http://schemas.microsoft.com/office/drawing/2014/main" id="{BEA1C1C1-2F74-4451-8C12-E5C5677F65BD}"/>
              </a:ext>
            </a:extLst>
          </p:cNvPr>
          <p:cNvSpPr>
            <a:spLocks noGrp="1"/>
          </p:cNvSpPr>
          <p:nvPr>
            <p:ph idx="1"/>
          </p:nvPr>
        </p:nvSpPr>
        <p:spPr/>
        <p:txBody>
          <a:bodyPr vert="horz" lIns="91440" tIns="45720" rIns="91440" bIns="45720" rtlCol="0" anchor="t">
            <a:normAutofit fontScale="77500" lnSpcReduction="20000"/>
          </a:bodyPr>
          <a:lstStyle/>
          <a:p>
            <a:r>
              <a:rPr lang="en-US" sz="2600">
                <a:latin typeface="Arial"/>
                <a:cs typeface="Arial"/>
              </a:rPr>
              <a:t>Understand the business problem and who your business partners are</a:t>
            </a:r>
          </a:p>
          <a:p>
            <a:pPr lvl="1"/>
            <a:r>
              <a:rPr lang="en-US" sz="2300">
                <a:latin typeface="Arial"/>
                <a:cs typeface="Arial"/>
              </a:rPr>
              <a:t>What are we trying to quantify and why?</a:t>
            </a:r>
          </a:p>
          <a:p>
            <a:pPr lvl="1"/>
            <a:r>
              <a:rPr lang="en-US" sz="2300">
                <a:latin typeface="Arial"/>
                <a:cs typeface="Arial"/>
              </a:rPr>
              <a:t>What information will our business partners need from us?</a:t>
            </a:r>
          </a:p>
          <a:p>
            <a:pPr lvl="1"/>
            <a:r>
              <a:rPr lang="en-US" sz="2300">
                <a:latin typeface="Arial"/>
                <a:cs typeface="Arial"/>
              </a:rPr>
              <a:t>What questions will we need to be prepared to answer and what concerns will we need to address?</a:t>
            </a:r>
          </a:p>
          <a:p>
            <a:pPr lvl="1"/>
            <a:endParaRPr lang="en-US">
              <a:latin typeface="Arial"/>
              <a:cs typeface="Arial"/>
            </a:endParaRPr>
          </a:p>
          <a:p>
            <a:r>
              <a:rPr lang="en-US" sz="2600">
                <a:latin typeface="Arial"/>
                <a:cs typeface="Arial"/>
              </a:rPr>
              <a:t>Leverage the resources provided </a:t>
            </a:r>
          </a:p>
          <a:p>
            <a:pPr lvl="1"/>
            <a:r>
              <a:rPr lang="en-US" sz="2300">
                <a:latin typeface="Arial"/>
                <a:cs typeface="Arial"/>
              </a:rPr>
              <a:t>Don’t recreate the wheel but don’t be afraid to deviate where it makes sense</a:t>
            </a:r>
          </a:p>
          <a:p>
            <a:pPr lvl="1"/>
            <a:endParaRPr lang="en-US">
              <a:latin typeface="Arial"/>
              <a:cs typeface="Arial"/>
            </a:endParaRPr>
          </a:p>
          <a:p>
            <a:r>
              <a:rPr lang="en-US" sz="2600">
                <a:latin typeface="Arial"/>
                <a:cs typeface="Arial"/>
              </a:rPr>
              <a:t>Supplement data with research and judgement</a:t>
            </a:r>
          </a:p>
          <a:p>
            <a:endParaRPr lang="en-US" sz="2600">
              <a:latin typeface="Arial"/>
              <a:cs typeface="Arial"/>
            </a:endParaRPr>
          </a:p>
          <a:p>
            <a:r>
              <a:rPr lang="en-US" sz="2600">
                <a:latin typeface="Arial"/>
                <a:cs typeface="Arial"/>
              </a:rPr>
              <a:t>Document key assumptions/drivers of your analysis</a:t>
            </a:r>
          </a:p>
          <a:p>
            <a:endParaRPr lang="en-US" sz="2600">
              <a:latin typeface="Arial"/>
              <a:cs typeface="Arial"/>
            </a:endParaRPr>
          </a:p>
          <a:p>
            <a:r>
              <a:rPr lang="en-US" sz="2600">
                <a:latin typeface="Arial"/>
                <a:cs typeface="Arial"/>
              </a:rPr>
              <a:t>Do your results feel reasonable?</a:t>
            </a:r>
          </a:p>
        </p:txBody>
      </p:sp>
      <p:sp>
        <p:nvSpPr>
          <p:cNvPr id="4" name="Footer Placeholder 3">
            <a:extLst>
              <a:ext uri="{FF2B5EF4-FFF2-40B4-BE49-F238E27FC236}">
                <a16:creationId xmlns:a16="http://schemas.microsoft.com/office/drawing/2014/main" id="{428D4B3F-2E7D-4017-AC77-C6A965F062C6}"/>
              </a:ext>
            </a:extLst>
          </p:cNvPr>
          <p:cNvSpPr>
            <a:spLocks noGrp="1"/>
          </p:cNvSpPr>
          <p:nvPr>
            <p:ph type="ftr" sz="quarter" idx="11"/>
          </p:nvPr>
        </p:nvSpPr>
        <p:spPr>
          <a:xfrm>
            <a:off x="4038600" y="6356350"/>
            <a:ext cx="4582886" cy="50165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Neue Haas Grotesk Text Pro" panose="020B0504020202020204" pitchFamily="34" charset="0"/>
                <a:ea typeface="+mn-ea"/>
                <a:cs typeface="+mn-cs"/>
              </a:rPr>
              <a:t>© 2022 by the Casualty Actuarial Society. All rights reserved.</a:t>
            </a:r>
          </a:p>
        </p:txBody>
      </p:sp>
    </p:spTree>
    <p:extLst>
      <p:ext uri="{BB962C8B-B14F-4D97-AF65-F5344CB8AC3E}">
        <p14:creationId xmlns:p14="http://schemas.microsoft.com/office/powerpoint/2010/main" val="199512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BFAA-097B-4963-A832-9C0B635467C2}"/>
              </a:ext>
            </a:extLst>
          </p:cNvPr>
          <p:cNvSpPr>
            <a:spLocks noGrp="1"/>
          </p:cNvSpPr>
          <p:nvPr>
            <p:ph type="title"/>
          </p:nvPr>
        </p:nvSpPr>
        <p:spPr/>
        <p:txBody>
          <a:bodyPr/>
          <a:lstStyle/>
          <a:p>
            <a:r>
              <a:rPr lang="en-US">
                <a:latin typeface="Arial"/>
                <a:cs typeface="Arial"/>
              </a:rPr>
              <a:t>The Presentation</a:t>
            </a:r>
          </a:p>
        </p:txBody>
      </p:sp>
      <p:sp>
        <p:nvSpPr>
          <p:cNvPr id="3" name="Content Placeholder 2">
            <a:extLst>
              <a:ext uri="{FF2B5EF4-FFF2-40B4-BE49-F238E27FC236}">
                <a16:creationId xmlns:a16="http://schemas.microsoft.com/office/drawing/2014/main" id="{BEA1C1C1-2F74-4451-8C12-E5C5677F65BD}"/>
              </a:ext>
            </a:extLst>
          </p:cNvPr>
          <p:cNvSpPr>
            <a:spLocks noGrp="1"/>
          </p:cNvSpPr>
          <p:nvPr>
            <p:ph idx="1"/>
          </p:nvPr>
        </p:nvSpPr>
        <p:spPr/>
        <p:txBody>
          <a:bodyPr vert="horz" lIns="91440" tIns="45720" rIns="91440" bIns="45720" rtlCol="0" anchor="t">
            <a:normAutofit fontScale="92500" lnSpcReduction="10000"/>
          </a:bodyPr>
          <a:lstStyle/>
          <a:p>
            <a:r>
              <a:rPr lang="en-US" sz="2200" dirty="0">
                <a:latin typeface="Arial"/>
                <a:cs typeface="Arial"/>
              </a:rPr>
              <a:t>Presentation specifics: </a:t>
            </a:r>
          </a:p>
          <a:p>
            <a:pPr lvl="1"/>
            <a:r>
              <a:rPr lang="en-US" sz="1900" dirty="0">
                <a:latin typeface="Arial"/>
                <a:cs typeface="Arial"/>
              </a:rPr>
              <a:t>Target 5 for the presentation </a:t>
            </a:r>
          </a:p>
          <a:p>
            <a:pPr lvl="1"/>
            <a:r>
              <a:rPr lang="en-US" sz="1900" dirty="0">
                <a:latin typeface="Arial"/>
                <a:cs typeface="Arial"/>
              </a:rPr>
              <a:t>Expect 5 minutes of Q&amp;A (in the in-person finale)</a:t>
            </a:r>
          </a:p>
          <a:p>
            <a:pPr lvl="1"/>
            <a:endParaRPr lang="en-US" dirty="0">
              <a:latin typeface="Arial"/>
              <a:cs typeface="Arial"/>
            </a:endParaRPr>
          </a:p>
          <a:p>
            <a:r>
              <a:rPr lang="en-US" sz="2200" dirty="0">
                <a:latin typeface="Arial"/>
                <a:cs typeface="Arial"/>
              </a:rPr>
              <a:t>Tailor the presentation to your audience (your business partners)</a:t>
            </a:r>
          </a:p>
          <a:p>
            <a:pPr lvl="1"/>
            <a:r>
              <a:rPr lang="en-US" sz="1900" dirty="0">
                <a:latin typeface="Arial"/>
                <a:cs typeface="Arial"/>
              </a:rPr>
              <a:t>What are the key ideas we need them to walk away understanding?</a:t>
            </a:r>
          </a:p>
          <a:p>
            <a:pPr lvl="1"/>
            <a:r>
              <a:rPr lang="en-US" sz="1900" dirty="0">
                <a:latin typeface="Arial"/>
                <a:cs typeface="Arial"/>
              </a:rPr>
              <a:t>What information will they need from us to make a decision?</a:t>
            </a:r>
          </a:p>
          <a:p>
            <a:pPr lvl="1"/>
            <a:r>
              <a:rPr lang="en-US" sz="1900" dirty="0">
                <a:latin typeface="Arial"/>
                <a:cs typeface="Arial"/>
              </a:rPr>
              <a:t>What questions/concerns can we get out in front of?</a:t>
            </a:r>
          </a:p>
          <a:p>
            <a:endParaRPr lang="en-US" dirty="0">
              <a:latin typeface="Arial"/>
              <a:cs typeface="Arial"/>
            </a:endParaRPr>
          </a:p>
          <a:p>
            <a:r>
              <a:rPr lang="en-US" sz="2200" dirty="0">
                <a:latin typeface="Arial"/>
                <a:cs typeface="Arial"/>
              </a:rPr>
              <a:t>Tell your story</a:t>
            </a:r>
          </a:p>
          <a:p>
            <a:pPr lvl="1"/>
            <a:r>
              <a:rPr lang="en-US" sz="1900" dirty="0">
                <a:latin typeface="Arial"/>
                <a:cs typeface="Arial"/>
              </a:rPr>
              <a:t>Assemble the slides in a logical progression </a:t>
            </a:r>
          </a:p>
          <a:p>
            <a:pPr lvl="1"/>
            <a:r>
              <a:rPr lang="en-US" sz="1900" dirty="0">
                <a:latin typeface="Arial"/>
                <a:cs typeface="Arial"/>
              </a:rPr>
              <a:t>Cover your key recommendations before diving into your supporting analysis and key assumptions</a:t>
            </a:r>
          </a:p>
          <a:p>
            <a:pPr lvl="1"/>
            <a:r>
              <a:rPr lang="en-US" sz="1900" dirty="0">
                <a:latin typeface="Arial"/>
                <a:cs typeface="Arial"/>
              </a:rPr>
              <a:t>Be well organized, concise and demonstrate your technical knowledge of the topic </a:t>
            </a:r>
          </a:p>
          <a:p>
            <a:endParaRPr lang="en-US" dirty="0"/>
          </a:p>
        </p:txBody>
      </p:sp>
      <p:sp>
        <p:nvSpPr>
          <p:cNvPr id="4" name="Footer Placeholder 3">
            <a:extLst>
              <a:ext uri="{FF2B5EF4-FFF2-40B4-BE49-F238E27FC236}">
                <a16:creationId xmlns:a16="http://schemas.microsoft.com/office/drawing/2014/main" id="{9F87EC17-1AA4-453C-9747-9B5BA6226AC7}"/>
              </a:ext>
            </a:extLst>
          </p:cNvPr>
          <p:cNvSpPr>
            <a:spLocks noGrp="1"/>
          </p:cNvSpPr>
          <p:nvPr>
            <p:ph type="ftr" sz="quarter" idx="11"/>
          </p:nvPr>
        </p:nvSpPr>
        <p:spPr>
          <a:xfrm>
            <a:off x="4038600" y="6356350"/>
            <a:ext cx="4610548" cy="38869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Neue Haas Grotesk Text Pro" panose="020B0504020202020204" pitchFamily="34" charset="0"/>
                <a:ea typeface="+mn-ea"/>
                <a:cs typeface="+mn-cs"/>
              </a:rPr>
              <a:t>© 2022 by the Casualty Actuarial Society. All rights reserved.</a:t>
            </a:r>
          </a:p>
        </p:txBody>
      </p:sp>
    </p:spTree>
    <p:extLst>
      <p:ext uri="{BB962C8B-B14F-4D97-AF65-F5344CB8AC3E}">
        <p14:creationId xmlns:p14="http://schemas.microsoft.com/office/powerpoint/2010/main" val="1112324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BFAA-097B-4963-A832-9C0B635467C2}"/>
              </a:ext>
            </a:extLst>
          </p:cNvPr>
          <p:cNvSpPr>
            <a:spLocks noGrp="1"/>
          </p:cNvSpPr>
          <p:nvPr>
            <p:ph type="title"/>
          </p:nvPr>
        </p:nvSpPr>
        <p:spPr/>
        <p:txBody>
          <a:bodyPr/>
          <a:lstStyle/>
          <a:p>
            <a:r>
              <a:rPr lang="en-US">
                <a:latin typeface="Arial"/>
                <a:cs typeface="Arial"/>
              </a:rPr>
              <a:t>The Presentation </a:t>
            </a:r>
            <a:endParaRPr lang="en-US"/>
          </a:p>
        </p:txBody>
      </p:sp>
      <p:sp>
        <p:nvSpPr>
          <p:cNvPr id="3" name="Content Placeholder 2">
            <a:extLst>
              <a:ext uri="{FF2B5EF4-FFF2-40B4-BE49-F238E27FC236}">
                <a16:creationId xmlns:a16="http://schemas.microsoft.com/office/drawing/2014/main" id="{BEA1C1C1-2F74-4451-8C12-E5C5677F65BD}"/>
              </a:ext>
            </a:extLst>
          </p:cNvPr>
          <p:cNvSpPr>
            <a:spLocks noGrp="1"/>
          </p:cNvSpPr>
          <p:nvPr>
            <p:ph idx="1"/>
          </p:nvPr>
        </p:nvSpPr>
        <p:spPr/>
        <p:txBody>
          <a:bodyPr vert="horz" lIns="91440" tIns="45720" rIns="91440" bIns="45720" rtlCol="0" anchor="t">
            <a:normAutofit/>
          </a:bodyPr>
          <a:lstStyle/>
          <a:p>
            <a:r>
              <a:rPr lang="en-US" sz="2000">
                <a:latin typeface="Arial"/>
                <a:cs typeface="Arial"/>
              </a:rPr>
              <a:t>Exhibits:</a:t>
            </a:r>
          </a:p>
          <a:p>
            <a:pPr lvl="1"/>
            <a:r>
              <a:rPr lang="en-US" sz="1800">
                <a:latin typeface="Arial"/>
                <a:cs typeface="Arial"/>
              </a:rPr>
              <a:t>Draw attention to the key numbers (shading, font color,…)</a:t>
            </a:r>
          </a:p>
          <a:p>
            <a:pPr lvl="1"/>
            <a:r>
              <a:rPr lang="en-US" sz="1800">
                <a:latin typeface="Arial"/>
                <a:cs typeface="Arial"/>
              </a:rPr>
              <a:t>Look for opportunities to leverage charts and visuals</a:t>
            </a:r>
          </a:p>
          <a:p>
            <a:pPr lvl="1"/>
            <a:r>
              <a:rPr lang="en-US" sz="1800">
                <a:latin typeface="Arial"/>
                <a:cs typeface="Arial"/>
              </a:rPr>
              <a:t>Visualizations are strongly encouraged</a:t>
            </a:r>
          </a:p>
          <a:p>
            <a:endParaRPr lang="en-US" sz="2000">
              <a:latin typeface="Arial"/>
              <a:cs typeface="Arial"/>
            </a:endParaRPr>
          </a:p>
          <a:p>
            <a:r>
              <a:rPr lang="en-US" sz="2000">
                <a:latin typeface="Arial"/>
                <a:cs typeface="Arial"/>
              </a:rPr>
              <a:t>Practice, practice, practice</a:t>
            </a:r>
          </a:p>
        </p:txBody>
      </p:sp>
      <p:sp>
        <p:nvSpPr>
          <p:cNvPr id="4" name="Footer Placeholder 3">
            <a:extLst>
              <a:ext uri="{FF2B5EF4-FFF2-40B4-BE49-F238E27FC236}">
                <a16:creationId xmlns:a16="http://schemas.microsoft.com/office/drawing/2014/main" id="{9F87EC17-1AA4-453C-9747-9B5BA6226AC7}"/>
              </a:ext>
            </a:extLst>
          </p:cNvPr>
          <p:cNvSpPr>
            <a:spLocks noGrp="1"/>
          </p:cNvSpPr>
          <p:nvPr>
            <p:ph type="ftr" sz="quarter" idx="11"/>
          </p:nvPr>
        </p:nvSpPr>
        <p:spPr>
          <a:xfrm>
            <a:off x="4038599" y="6356350"/>
            <a:ext cx="4642821" cy="41021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Neue Haas Grotesk Text Pro" panose="020B0504020202020204" pitchFamily="34" charset="0"/>
                <a:ea typeface="+mn-ea"/>
                <a:cs typeface="+mn-cs"/>
              </a:rPr>
              <a:t>© 2022 by the Casualty Actuarial Society. All rights reserved.</a:t>
            </a:r>
          </a:p>
        </p:txBody>
      </p:sp>
    </p:spTree>
    <p:extLst>
      <p:ext uri="{BB962C8B-B14F-4D97-AF65-F5344CB8AC3E}">
        <p14:creationId xmlns:p14="http://schemas.microsoft.com/office/powerpoint/2010/main" val="1923974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BFAA-097B-4963-A832-9C0B635467C2}"/>
              </a:ext>
            </a:extLst>
          </p:cNvPr>
          <p:cNvSpPr>
            <a:spLocks noGrp="1"/>
          </p:cNvSpPr>
          <p:nvPr>
            <p:ph type="title"/>
          </p:nvPr>
        </p:nvSpPr>
        <p:spPr>
          <a:xfrm>
            <a:off x="2634953" y="2766218"/>
            <a:ext cx="6922093" cy="1325563"/>
          </a:xfrm>
        </p:spPr>
        <p:txBody>
          <a:bodyPr>
            <a:normAutofit/>
          </a:bodyPr>
          <a:lstStyle/>
          <a:p>
            <a:pPr algn="ctr"/>
            <a:r>
              <a:rPr lang="en-US">
                <a:latin typeface="Arial"/>
                <a:cs typeface="Arial"/>
              </a:rPr>
              <a:t>CAS Student Central Membership</a:t>
            </a:r>
          </a:p>
        </p:txBody>
      </p:sp>
      <p:sp>
        <p:nvSpPr>
          <p:cNvPr id="3" name="Footer Placeholder 2">
            <a:extLst>
              <a:ext uri="{FF2B5EF4-FFF2-40B4-BE49-F238E27FC236}">
                <a16:creationId xmlns:a16="http://schemas.microsoft.com/office/drawing/2014/main" id="{58BADB68-0EAA-42B5-9C36-C74B603FAC47}"/>
              </a:ext>
            </a:extLst>
          </p:cNvPr>
          <p:cNvSpPr>
            <a:spLocks noGrp="1"/>
          </p:cNvSpPr>
          <p:nvPr>
            <p:ph type="ftr" sz="quarter" idx="11"/>
          </p:nvPr>
        </p:nvSpPr>
        <p:spPr>
          <a:xfrm>
            <a:off x="4038599" y="6356350"/>
            <a:ext cx="4578275" cy="39945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Neue Haas Grotesk Text Pro" panose="020B0504020202020204" pitchFamily="34" charset="0"/>
                <a:ea typeface="+mn-ea"/>
                <a:cs typeface="+mn-cs"/>
              </a:rPr>
              <a:t>© 2022 by the Casualty Actuarial Society. All rights reserved.</a:t>
            </a:r>
          </a:p>
        </p:txBody>
      </p:sp>
    </p:spTree>
    <p:extLst>
      <p:ext uri="{BB962C8B-B14F-4D97-AF65-F5344CB8AC3E}">
        <p14:creationId xmlns:p14="http://schemas.microsoft.com/office/powerpoint/2010/main" val="2218017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BFAA-097B-4963-A832-9C0B635467C2}"/>
              </a:ext>
            </a:extLst>
          </p:cNvPr>
          <p:cNvSpPr>
            <a:spLocks noGrp="1"/>
          </p:cNvSpPr>
          <p:nvPr>
            <p:ph type="title"/>
          </p:nvPr>
        </p:nvSpPr>
        <p:spPr/>
        <p:txBody>
          <a:bodyPr/>
          <a:lstStyle/>
          <a:p>
            <a:r>
              <a:rPr lang="en-US">
                <a:latin typeface="Arial"/>
                <a:cs typeface="Arial"/>
              </a:rPr>
              <a:t>You are invited…</a:t>
            </a:r>
          </a:p>
        </p:txBody>
      </p:sp>
      <p:sp>
        <p:nvSpPr>
          <p:cNvPr id="3" name="Content Placeholder 2">
            <a:extLst>
              <a:ext uri="{FF2B5EF4-FFF2-40B4-BE49-F238E27FC236}">
                <a16:creationId xmlns:a16="http://schemas.microsoft.com/office/drawing/2014/main" id="{BEA1C1C1-2F74-4451-8C12-E5C5677F65BD}"/>
              </a:ext>
            </a:extLst>
          </p:cNvPr>
          <p:cNvSpPr>
            <a:spLocks noGrp="1"/>
          </p:cNvSpPr>
          <p:nvPr>
            <p:ph idx="1"/>
          </p:nvPr>
        </p:nvSpPr>
        <p:spPr>
          <a:xfrm>
            <a:off x="3493805" y="3839049"/>
            <a:ext cx="5204389" cy="1404685"/>
          </a:xfrm>
        </p:spPr>
        <p:txBody>
          <a:bodyPr>
            <a:normAutofit fontScale="92500"/>
          </a:bodyPr>
          <a:lstStyle/>
          <a:p>
            <a:pPr marL="0" indent="0" algn="ctr">
              <a:buNone/>
            </a:pPr>
            <a:r>
              <a:rPr lang="en-US" sz="3600"/>
              <a:t>Join online today at </a:t>
            </a:r>
          </a:p>
          <a:p>
            <a:pPr marL="0" indent="0" algn="ctr">
              <a:buNone/>
            </a:pPr>
            <a:r>
              <a:rPr lang="en-US" sz="3600" b="1"/>
              <a:t>CASstudentcentral.org</a:t>
            </a:r>
          </a:p>
        </p:txBody>
      </p:sp>
      <p:pic>
        <p:nvPicPr>
          <p:cNvPr id="4" name="Picture 4" descr="CAS Student Central Logo.jpg">
            <a:extLst>
              <a:ext uri="{FF2B5EF4-FFF2-40B4-BE49-F238E27FC236}">
                <a16:creationId xmlns:a16="http://schemas.microsoft.com/office/drawing/2014/main" id="{02C0F344-AEC7-42B1-A8E5-83552D1C1B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1917937"/>
            <a:ext cx="8191500"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FE0D524C-5702-4259-ABB6-B1AB2990A4CE}"/>
              </a:ext>
            </a:extLst>
          </p:cNvPr>
          <p:cNvSpPr>
            <a:spLocks noGrp="1"/>
          </p:cNvSpPr>
          <p:nvPr>
            <p:ph type="ftr" sz="quarter" idx="11"/>
          </p:nvPr>
        </p:nvSpPr>
        <p:spPr>
          <a:xfrm>
            <a:off x="4038600" y="6356350"/>
            <a:ext cx="4659594" cy="38869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Neue Haas Grotesk Text Pro" panose="020B0504020202020204" pitchFamily="34" charset="0"/>
                <a:ea typeface="+mn-ea"/>
                <a:cs typeface="+mn-cs"/>
              </a:rPr>
              <a:t>© 2022 by the Casualty Actuarial Society. All rights reserved.</a:t>
            </a:r>
          </a:p>
        </p:txBody>
      </p:sp>
    </p:spTree>
    <p:extLst>
      <p:ext uri="{BB962C8B-B14F-4D97-AF65-F5344CB8AC3E}">
        <p14:creationId xmlns:p14="http://schemas.microsoft.com/office/powerpoint/2010/main" val="1371794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BFAA-097B-4963-A832-9C0B635467C2}"/>
              </a:ext>
            </a:extLst>
          </p:cNvPr>
          <p:cNvSpPr>
            <a:spLocks noGrp="1"/>
          </p:cNvSpPr>
          <p:nvPr>
            <p:ph type="title"/>
          </p:nvPr>
        </p:nvSpPr>
        <p:spPr/>
        <p:txBody>
          <a:bodyPr/>
          <a:lstStyle/>
          <a:p>
            <a:pPr algn="ctr"/>
            <a:r>
              <a:rPr lang="en-US">
                <a:latin typeface="Arial"/>
                <a:cs typeface="Arial"/>
              </a:rPr>
              <a:t>CAS Student Central Membership Benefits </a:t>
            </a:r>
            <a:endParaRPr lang="en-US"/>
          </a:p>
        </p:txBody>
      </p:sp>
      <p:pic>
        <p:nvPicPr>
          <p:cNvPr id="6" name="Content Placeholder 3">
            <a:extLst>
              <a:ext uri="{FF2B5EF4-FFF2-40B4-BE49-F238E27FC236}">
                <a16:creationId xmlns:a16="http://schemas.microsoft.com/office/drawing/2014/main" id="{86A5F820-B24C-4EBC-91B7-9C9181908270}"/>
              </a:ext>
            </a:extLst>
          </p:cNvPr>
          <p:cNvPicPr>
            <a:picLocks noGrp="1" noChangeAspect="1"/>
          </p:cNvPicPr>
          <p:nvPr>
            <p:ph idx="1"/>
          </p:nvPr>
        </p:nvPicPr>
        <p:blipFill>
          <a:blip r:embed="rId2"/>
          <a:stretch>
            <a:fillRect/>
          </a:stretch>
        </p:blipFill>
        <p:spPr>
          <a:xfrm>
            <a:off x="3014869" y="1757124"/>
            <a:ext cx="6162261" cy="4583351"/>
          </a:xfrm>
          <a:prstGeom prst="rect">
            <a:avLst/>
          </a:prstGeom>
        </p:spPr>
      </p:pic>
      <p:sp>
        <p:nvSpPr>
          <p:cNvPr id="7" name="Footer Placeholder 6">
            <a:extLst>
              <a:ext uri="{FF2B5EF4-FFF2-40B4-BE49-F238E27FC236}">
                <a16:creationId xmlns:a16="http://schemas.microsoft.com/office/drawing/2014/main" id="{09D7BA43-9572-483A-857F-19B572C947FA}"/>
              </a:ext>
            </a:extLst>
          </p:cNvPr>
          <p:cNvSpPr>
            <a:spLocks noGrp="1"/>
          </p:cNvSpPr>
          <p:nvPr>
            <p:ph type="ftr" sz="quarter" idx="11"/>
          </p:nvPr>
        </p:nvSpPr>
        <p:spPr>
          <a:xfrm>
            <a:off x="4038599" y="6356350"/>
            <a:ext cx="4589033" cy="37793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Neue Haas Grotesk Text Pro" panose="020B0504020202020204" pitchFamily="34" charset="0"/>
                <a:ea typeface="+mn-ea"/>
                <a:cs typeface="+mn-cs"/>
              </a:rPr>
              <a:t>© 2022 by the Casualty Actuarial Society. All rights reserved.</a:t>
            </a:r>
          </a:p>
        </p:txBody>
      </p:sp>
    </p:spTree>
    <p:extLst>
      <p:ext uri="{BB962C8B-B14F-4D97-AF65-F5344CB8AC3E}">
        <p14:creationId xmlns:p14="http://schemas.microsoft.com/office/powerpoint/2010/main" val="1846497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1f5c59bb-fff3-44bb-af19-8c47570356e4">
      <Terms xmlns="http://schemas.microsoft.com/office/infopath/2007/PartnerControls"/>
    </lcf76f155ced4ddcb4097134ff3c332f>
    <TaxCatchAll xmlns="035059a0-d0ab-420a-99f5-7e53cb92e6c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C0D24D4F71A634D91A34F14C517243B" ma:contentTypeVersion="20" ma:contentTypeDescription="Create a new document." ma:contentTypeScope="" ma:versionID="14f8ab21f665b889acf4d3d0e4b9c025">
  <xsd:schema xmlns:xsd="http://www.w3.org/2001/XMLSchema" xmlns:xs="http://www.w3.org/2001/XMLSchema" xmlns:p="http://schemas.microsoft.com/office/2006/metadata/properties" xmlns:ns1="http://schemas.microsoft.com/sharepoint/v3" xmlns:ns2="1f5c59bb-fff3-44bb-af19-8c47570356e4" xmlns:ns3="7aa30d0e-d5b0-496b-a38f-b8a612c662b7" xmlns:ns4="035059a0-d0ab-420a-99f5-7e53cb92e6c1" targetNamespace="http://schemas.microsoft.com/office/2006/metadata/properties" ma:root="true" ma:fieldsID="cf79589bafac4e7f8cc5c5e6901c460e" ns1:_="" ns2:_="" ns3:_="" ns4:_="">
    <xsd:import namespace="http://schemas.microsoft.com/sharepoint/v3"/>
    <xsd:import namespace="1f5c59bb-fff3-44bb-af19-8c47570356e4"/>
    <xsd:import namespace="7aa30d0e-d5b0-496b-a38f-b8a612c662b7"/>
    <xsd:import namespace="035059a0-d0ab-420a-99f5-7e53cb92e6c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f5c59bb-fff3-44bb-af19-8c47570356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0560b896-8886-498a-a042-c3e26b9789a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aa30d0e-d5b0-496b-a38f-b8a612c662b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35059a0-d0ab-420a-99f5-7e53cb92e6c1"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83201866-58c0-4721-a452-d4356fe7de4e}" ma:internalName="TaxCatchAll" ma:showField="CatchAllData" ma:web="035059a0-d0ab-420a-99f5-7e53cb92e6c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BCBF0C-C05C-4FF5-91ED-660702B867DB}">
  <ds:schemaRefs>
    <ds:schemaRef ds:uri="http://schemas.microsoft.com/sharepoint/v3/contenttype/forms"/>
  </ds:schemaRefs>
</ds:datastoreItem>
</file>

<file path=customXml/itemProps2.xml><?xml version="1.0" encoding="utf-8"?>
<ds:datastoreItem xmlns:ds="http://schemas.openxmlformats.org/officeDocument/2006/customXml" ds:itemID="{38C63E41-DF61-4F34-863C-FB624D046B63}">
  <ds:schemaRefs>
    <ds:schemaRef ds:uri="1f5c59bb-fff3-44bb-af19-8c47570356e4"/>
    <ds:schemaRef ds:uri="7aa30d0e-d5b0-496b-a38f-b8a612c662b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 ds:uri="035059a0-d0ab-420a-99f5-7e53cb92e6c1"/>
  </ds:schemaRefs>
</ds:datastoreItem>
</file>

<file path=customXml/itemProps3.xml><?xml version="1.0" encoding="utf-8"?>
<ds:datastoreItem xmlns:ds="http://schemas.openxmlformats.org/officeDocument/2006/customXml" ds:itemID="{87868531-6DA1-416E-9BFA-D629401628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f5c59bb-fff3-44bb-af19-8c47570356e4"/>
    <ds:schemaRef ds:uri="7aa30d0e-d5b0-496b-a38f-b8a612c662b7"/>
    <ds:schemaRef ds:uri="035059a0-d0ab-420a-99f5-7e53cb92e6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1238</Words>
  <Application>Microsoft Office PowerPoint</Application>
  <PresentationFormat>Widescreen</PresentationFormat>
  <Paragraphs>146</Paragraphs>
  <Slides>17</Slides>
  <Notes>0</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17</vt:i4>
      </vt:variant>
    </vt:vector>
  </HeadingPairs>
  <TitlesOfParts>
    <vt:vector size="30" baseType="lpstr">
      <vt:lpstr>Arial</vt:lpstr>
      <vt:lpstr>Calibri</vt:lpstr>
      <vt:lpstr>Courier New</vt:lpstr>
      <vt:lpstr>Neue Haas Grotesk Text Pro</vt:lpstr>
      <vt:lpstr>Univers LT Std 45 Light</vt:lpstr>
      <vt:lpstr>Univers LT Std 55</vt:lpstr>
      <vt:lpstr>Office Theme</vt:lpstr>
      <vt:lpstr>Custom Design</vt:lpstr>
      <vt:lpstr>3_Custom Design</vt:lpstr>
      <vt:lpstr>1_Custom Design</vt:lpstr>
      <vt:lpstr>2_Custom Design</vt:lpstr>
      <vt:lpstr>1_Office Theme</vt:lpstr>
      <vt:lpstr>2_Office Theme</vt:lpstr>
      <vt:lpstr>Predictive Modeling  Case Competition</vt:lpstr>
      <vt:lpstr>Casualty Actuarial Society</vt:lpstr>
      <vt:lpstr>Case Overview</vt:lpstr>
      <vt:lpstr>Background &amp; Charge</vt:lpstr>
      <vt:lpstr>Background &amp; Charge</vt:lpstr>
      <vt:lpstr>Deliverables</vt:lpstr>
      <vt:lpstr>Deliverables</vt:lpstr>
      <vt:lpstr>Supporting Materials &amp; Resources</vt:lpstr>
      <vt:lpstr>Expectations: Competition Rubric</vt:lpstr>
      <vt:lpstr>Tips for Case Competition Success</vt:lpstr>
      <vt:lpstr>The Team</vt:lpstr>
      <vt:lpstr>The Analysis</vt:lpstr>
      <vt:lpstr>The Presentation</vt:lpstr>
      <vt:lpstr>The Presentation </vt:lpstr>
      <vt:lpstr>CAS Student Central Membership</vt:lpstr>
      <vt:lpstr>You are invited…</vt:lpstr>
      <vt:lpstr>CAS Student Central Membership Benefits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Sonja Uyenco</dc:creator>
  <cp:lastModifiedBy>Megan Whitehead</cp:lastModifiedBy>
  <cp:revision>43</cp:revision>
  <dcterms:created xsi:type="dcterms:W3CDTF">2016-07-18T14:59:28Z</dcterms:created>
  <dcterms:modified xsi:type="dcterms:W3CDTF">2026-01-15T19:33:09Z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0x010100AC0D24D4F71A634D91A34F14C517243B</vt:lpwstr>
  </property>
  <property fmtid="{D5CDD505-2E9C-101B-9397-08002B2CF9AE}" pid="3" name="MediaServiceImageTags">
    <vt:lpwstr/>
  </property>
</Properties>
</file>